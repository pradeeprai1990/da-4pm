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8" r:id="rId3"/>
    <p:sldId id="259" r:id="rId4"/>
    <p:sldId id="260" r:id="rId5"/>
    <p:sldId id="262" r:id="rId6"/>
    <p:sldId id="263"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31B4124-34E6-021F-053B-B4B3D19768C9}">
          <p14:sldIdLst>
            <p14:sldId id="256"/>
          </p14:sldIdLst>
        </p14:section>
        <p14:section name="Day 1" id="{DE56E779-EE7D-10D5-C02F-62DDE96EA6EF}">
          <p14:sldIdLst>
            <p14:sldId id="258"/>
            <p14:sldId id="259"/>
            <p14:sldId id="260"/>
            <p14:sldId id="262"/>
          </p14:sldIdLst>
        </p14:section>
        <p14:section name="Wrap-up" id="{625735E4-3926-A18A-67EE-BDA35B4A5BB3}">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642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Over the next 7 days we learn window functions in MySQL. Think of a window as a frame you place over some rows of a table. The function looks only at the rows inside that frame, but every row stays in the result. The picture shows this: all rows remain, and the amber frame marks the rows the calculation looks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Today we learn just one idea: a window function calculates across rows but does not reduce the number of rows. We use only OVER() with nothing inside, which means the whole table is the window.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this tiny table of 3 fruits. If we write SELECT SUM(qty), we get one row: 60, and the fruit names are gone. With SUM(qty) OVER(), all 3 rows stay and each one shows the total 60 next to it. That is the whole idea of a window function. Now we can also calculate each fruit's share: Mango is 30 out of 60, which is 50 percent.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with real data. On the left, GROUP BY gives one row per department, so the employee names are lost. On the right, the window function keeps every employee and adds the department average as a new column. We will learn PARTITION BY properly tomorrow; today just notice that the rows are kept.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an empty OVER(), the whole table is one window. The company total, 891,000, and the company average, 59,400, appear on every row. Once the total sits next to each salary, we can divide: Kabir earns 85,000, which is 9.54 percent of the company's salary bill.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time for Day 1. Open the Day 1 folder: start with the simple example, run the dataset file, go through the concepts file query by query, then solve the practice questions before opening the solutions. Next class is Day 2: PARTITION BY.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512064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880360"/>
            <a:ext cx="4937760" cy="822960"/>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965960"/>
            <a:ext cx="8046720" cy="8229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2880360"/>
            <a:ext cx="7863840" cy="822960"/>
          </a:xfrm>
          <a:prstGeom prst="rect">
            <a:avLst/>
          </a:prstGeom>
          <a:noFill/>
          <a:ln/>
        </p:spPr>
        <p:txBody>
          <a:bodyPr wrap="square" rtlCol="0"/>
          <a:lstStyle>
            <a:lvl1pPr marL="0" indent="0">
              <a:buNone/>
              <a:defRPr lang="en-US" sz="1600" dirty="0">
                <a:solidFill>
                  <a:schemeClr val="accent5"/>
                </a:solidFill>
              </a:defRPr>
            </a:lvl1pPr>
          </a:lstStyle>
          <a:p>
            <a:pPr marL="0" indent="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48640"/>
            <a:ext cx="8229600" cy="64008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marL="0" indent="0">
              <a:buNone/>
            </a:pPr>
            <a:r>
              <a:rPr lang="en-US" sz="900" dirty="0">
                <a:solidFill>
                  <a:schemeClr val="tx2"/>
                </a:solidFill>
              </a:rPr>
              <a:t>Window Functions in MySQL  ·  DA SQL</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_1"/>
          <p:cNvSpPr txBox="1"/>
          <p:nvPr/>
        </p:nvSpPr>
        <p:spPr>
          <a:xfrm>
            <a:off x="548640" y="960120"/>
            <a:ext cx="265176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dirty="0">
                <a:solidFill>
                  <a:schemeClr val="bg1"/>
                </a:solidFill>
              </a:rPr>
              <a:t>MySQL 8.0+  ·  DATA ANALYST SQL</a:t>
            </a:r>
            <a:endParaRPr lang="en-US" sz="1000" dirty="0"/>
          </a:p>
        </p:txBody>
      </p:sp>
      <p:sp>
        <p:nvSpPr>
          <p:cNvPr id="3" name="Text 0"/>
          <p:cNvSpPr>
            <a:spLocks noGrp="1"/>
          </p:cNvSpPr>
          <p:nvPr>
            <p:ph type="title" idx="100" hasCustomPrompt="1"/>
          </p:nvPr>
        </p:nvSpPr>
        <p:spPr>
          <a:xfrm>
            <a:off x="548640" y="1417320"/>
            <a:ext cx="5120640" cy="1371600"/>
          </a:xfrm>
          <a:prstGeom prst="rect">
            <a:avLst/>
          </a:prstGeom>
          <a:noFill/>
          <a:ln/>
        </p:spPr>
        <p:txBody>
          <a:bodyPr wrap="square" lIns="0" tIns="0" rIns="0" bIns="0" rtlCol="0" anchor="t"/>
          <a:lstStyle/>
          <a:p>
            <a:pPr marL="0" indent="0" algn="l">
              <a:buNone/>
            </a:pPr>
            <a:r>
              <a:rPr lang="en-US" sz="4000" b="1" dirty="0">
                <a:solidFill>
                  <a:schemeClr val="bg1"/>
                </a:solidFill>
              </a:rPr>
              <a:t>Window Functions in MySQL</a:t>
            </a:r>
            <a:endParaRPr lang="en-US" sz="4000" dirty="0"/>
          </a:p>
        </p:txBody>
      </p:sp>
      <p:sp>
        <p:nvSpPr>
          <p:cNvPr id="4" name="Text 0"/>
          <p:cNvSpPr>
            <a:spLocks noGrp="1"/>
          </p:cNvSpPr>
          <p:nvPr>
            <p:ph type="body" idx="101" hasCustomPrompt="1"/>
          </p:nvPr>
        </p:nvSpPr>
        <p:spPr>
          <a:xfrm>
            <a:off x="548640" y="2880360"/>
            <a:ext cx="4937760" cy="822960"/>
          </a:xfrm>
          <a:prstGeom prst="rect">
            <a:avLst/>
          </a:prstGeom>
          <a:noFill/>
          <a:ln/>
        </p:spPr>
        <p:txBody>
          <a:bodyPr wrap="square" lIns="0" tIns="0" rIns="0" bIns="0" rtlCol="0" anchor="t"/>
          <a:lstStyle/>
          <a:p>
            <a:pPr marL="0" indent="0">
              <a:buNone/>
            </a:pPr>
            <a:r>
              <a:rPr lang="en-US" sz="1800" dirty="0">
                <a:solidFill>
                  <a:schemeClr val="accent5"/>
                </a:solidFill>
              </a:rPr>
              <a:t>A simple 7-day plan, from the basics to real case studies</a:t>
            </a:r>
            <a:endParaRPr lang="en-US" sz="1800" dirty="0"/>
          </a:p>
        </p:txBody>
      </p:sp>
      <p:sp>
        <p:nvSpPr>
          <p:cNvPr id="5" name="gridcell_2"/>
          <p:cNvSpPr/>
          <p:nvPr/>
        </p:nvSpPr>
        <p:spPr>
          <a:xfrm>
            <a:off x="5989320" y="960120"/>
            <a:ext cx="749808" cy="329184"/>
          </a:xfrm>
          <a:prstGeom prst="roundRect">
            <a:avLst>
              <a:gd name="adj" fmla="val 13889"/>
            </a:avLst>
          </a:prstGeom>
          <a:solidFill>
            <a:schemeClr val="tx2"/>
          </a:solidFill>
          <a:ln w="12700">
            <a:solidFill>
              <a:schemeClr val="tx2"/>
            </a:solidFill>
            <a:prstDash val="solid"/>
          </a:ln>
        </p:spPr>
      </p:sp>
      <p:sp>
        <p:nvSpPr>
          <p:cNvPr id="6" name="gridcell_3"/>
          <p:cNvSpPr/>
          <p:nvPr/>
        </p:nvSpPr>
        <p:spPr>
          <a:xfrm>
            <a:off x="6830568" y="960120"/>
            <a:ext cx="749808" cy="329184"/>
          </a:xfrm>
          <a:prstGeom prst="roundRect">
            <a:avLst>
              <a:gd name="adj" fmla="val 13889"/>
            </a:avLst>
          </a:prstGeom>
          <a:solidFill>
            <a:schemeClr val="tx2"/>
          </a:solidFill>
          <a:ln w="12700">
            <a:solidFill>
              <a:schemeClr val="tx2"/>
            </a:solidFill>
            <a:prstDash val="solid"/>
          </a:ln>
        </p:spPr>
      </p:sp>
      <p:sp>
        <p:nvSpPr>
          <p:cNvPr id="7" name="gridcell_4"/>
          <p:cNvSpPr/>
          <p:nvPr/>
        </p:nvSpPr>
        <p:spPr>
          <a:xfrm>
            <a:off x="7671816" y="960120"/>
            <a:ext cx="749808" cy="329184"/>
          </a:xfrm>
          <a:prstGeom prst="roundRect">
            <a:avLst>
              <a:gd name="adj" fmla="val 13889"/>
            </a:avLst>
          </a:prstGeom>
          <a:solidFill>
            <a:schemeClr val="tx2"/>
          </a:solidFill>
          <a:ln w="12700">
            <a:solidFill>
              <a:schemeClr val="tx2"/>
            </a:solidFill>
            <a:prstDash val="solid"/>
          </a:ln>
        </p:spPr>
      </p:sp>
      <p:sp>
        <p:nvSpPr>
          <p:cNvPr id="8" name="gridcell_5"/>
          <p:cNvSpPr/>
          <p:nvPr/>
        </p:nvSpPr>
        <p:spPr>
          <a:xfrm>
            <a:off x="5989320" y="1380744"/>
            <a:ext cx="749808" cy="329184"/>
          </a:xfrm>
          <a:prstGeom prst="roundRect">
            <a:avLst>
              <a:gd name="adj" fmla="val 13889"/>
            </a:avLst>
          </a:prstGeom>
          <a:solidFill>
            <a:schemeClr val="tx2"/>
          </a:solidFill>
          <a:ln w="12700">
            <a:solidFill>
              <a:schemeClr val="tx2"/>
            </a:solidFill>
            <a:prstDash val="solid"/>
          </a:ln>
        </p:spPr>
      </p:sp>
      <p:sp>
        <p:nvSpPr>
          <p:cNvPr id="9" name="gridcell_6"/>
          <p:cNvSpPr/>
          <p:nvPr/>
        </p:nvSpPr>
        <p:spPr>
          <a:xfrm>
            <a:off x="6830568" y="1380744"/>
            <a:ext cx="749808" cy="329184"/>
          </a:xfrm>
          <a:prstGeom prst="roundRect">
            <a:avLst>
              <a:gd name="adj" fmla="val 13889"/>
            </a:avLst>
          </a:prstGeom>
          <a:solidFill>
            <a:schemeClr val="tx2"/>
          </a:solidFill>
          <a:ln w="12700">
            <a:solidFill>
              <a:schemeClr val="tx2"/>
            </a:solidFill>
            <a:prstDash val="solid"/>
          </a:ln>
        </p:spPr>
      </p:sp>
      <p:sp>
        <p:nvSpPr>
          <p:cNvPr id="10" name="gridcell_7"/>
          <p:cNvSpPr/>
          <p:nvPr/>
        </p:nvSpPr>
        <p:spPr>
          <a:xfrm>
            <a:off x="7671816" y="1380744"/>
            <a:ext cx="749808" cy="329184"/>
          </a:xfrm>
          <a:prstGeom prst="roundRect">
            <a:avLst>
              <a:gd name="adj" fmla="val 13889"/>
            </a:avLst>
          </a:prstGeom>
          <a:solidFill>
            <a:schemeClr val="tx2"/>
          </a:solidFill>
          <a:ln w="12700">
            <a:solidFill>
              <a:schemeClr val="tx2"/>
            </a:solidFill>
            <a:prstDash val="solid"/>
          </a:ln>
        </p:spPr>
      </p:sp>
      <p:sp>
        <p:nvSpPr>
          <p:cNvPr id="11" name="gridcell_8"/>
          <p:cNvSpPr/>
          <p:nvPr/>
        </p:nvSpPr>
        <p:spPr>
          <a:xfrm>
            <a:off x="5989320" y="1801368"/>
            <a:ext cx="749808" cy="329184"/>
          </a:xfrm>
          <a:prstGeom prst="roundRect">
            <a:avLst>
              <a:gd name="adj" fmla="val 13889"/>
            </a:avLst>
          </a:prstGeom>
          <a:solidFill>
            <a:schemeClr val="accent1"/>
          </a:solidFill>
          <a:ln w="12700">
            <a:solidFill>
              <a:schemeClr val="accent1"/>
            </a:solidFill>
            <a:prstDash val="solid"/>
          </a:ln>
        </p:spPr>
      </p:sp>
      <p:sp>
        <p:nvSpPr>
          <p:cNvPr id="12" name="gridcell_9"/>
          <p:cNvSpPr/>
          <p:nvPr/>
        </p:nvSpPr>
        <p:spPr>
          <a:xfrm>
            <a:off x="6830568" y="1801368"/>
            <a:ext cx="749808" cy="329184"/>
          </a:xfrm>
          <a:prstGeom prst="roundRect">
            <a:avLst>
              <a:gd name="adj" fmla="val 13889"/>
            </a:avLst>
          </a:prstGeom>
          <a:solidFill>
            <a:schemeClr val="accent1"/>
          </a:solidFill>
          <a:ln w="12700">
            <a:solidFill>
              <a:schemeClr val="accent1"/>
            </a:solidFill>
            <a:prstDash val="solid"/>
          </a:ln>
        </p:spPr>
      </p:sp>
      <p:sp>
        <p:nvSpPr>
          <p:cNvPr id="13" name="gridcell_10"/>
          <p:cNvSpPr/>
          <p:nvPr/>
        </p:nvSpPr>
        <p:spPr>
          <a:xfrm>
            <a:off x="7671816" y="1801368"/>
            <a:ext cx="749808" cy="329184"/>
          </a:xfrm>
          <a:prstGeom prst="roundRect">
            <a:avLst>
              <a:gd name="adj" fmla="val 13889"/>
            </a:avLst>
          </a:prstGeom>
          <a:solidFill>
            <a:schemeClr val="accent1"/>
          </a:solidFill>
          <a:ln w="12700">
            <a:solidFill>
              <a:schemeClr val="accent1"/>
            </a:solidFill>
            <a:prstDash val="solid"/>
          </a:ln>
        </p:spPr>
      </p:sp>
      <p:sp>
        <p:nvSpPr>
          <p:cNvPr id="14" name="gridcell_11"/>
          <p:cNvSpPr/>
          <p:nvPr/>
        </p:nvSpPr>
        <p:spPr>
          <a:xfrm>
            <a:off x="5989320" y="2221992"/>
            <a:ext cx="749808" cy="329184"/>
          </a:xfrm>
          <a:prstGeom prst="roundRect">
            <a:avLst>
              <a:gd name="adj" fmla="val 13889"/>
            </a:avLst>
          </a:prstGeom>
          <a:solidFill>
            <a:schemeClr val="accent1"/>
          </a:solidFill>
          <a:ln w="12700">
            <a:solidFill>
              <a:schemeClr val="accent1"/>
            </a:solidFill>
            <a:prstDash val="solid"/>
          </a:ln>
        </p:spPr>
      </p:sp>
      <p:sp>
        <p:nvSpPr>
          <p:cNvPr id="15" name="gridcell_12"/>
          <p:cNvSpPr/>
          <p:nvPr/>
        </p:nvSpPr>
        <p:spPr>
          <a:xfrm>
            <a:off x="6830568" y="2221992"/>
            <a:ext cx="749808" cy="329184"/>
          </a:xfrm>
          <a:prstGeom prst="roundRect">
            <a:avLst>
              <a:gd name="adj" fmla="val 13889"/>
            </a:avLst>
          </a:prstGeom>
          <a:solidFill>
            <a:schemeClr val="accent1"/>
          </a:solidFill>
          <a:ln w="12700">
            <a:solidFill>
              <a:schemeClr val="accent1"/>
            </a:solidFill>
            <a:prstDash val="solid"/>
          </a:ln>
        </p:spPr>
      </p:sp>
      <p:sp>
        <p:nvSpPr>
          <p:cNvPr id="16" name="gridcell_13"/>
          <p:cNvSpPr/>
          <p:nvPr/>
        </p:nvSpPr>
        <p:spPr>
          <a:xfrm>
            <a:off x="7671816" y="2221992"/>
            <a:ext cx="749808" cy="329184"/>
          </a:xfrm>
          <a:prstGeom prst="roundRect">
            <a:avLst>
              <a:gd name="adj" fmla="val 13889"/>
            </a:avLst>
          </a:prstGeom>
          <a:solidFill>
            <a:schemeClr val="accent1"/>
          </a:solidFill>
          <a:ln w="12700">
            <a:solidFill>
              <a:schemeClr val="accent1"/>
            </a:solidFill>
            <a:prstDash val="solid"/>
          </a:ln>
        </p:spPr>
      </p:sp>
      <p:sp>
        <p:nvSpPr>
          <p:cNvPr id="17" name="gridcell_14"/>
          <p:cNvSpPr/>
          <p:nvPr/>
        </p:nvSpPr>
        <p:spPr>
          <a:xfrm>
            <a:off x="5989320" y="2642616"/>
            <a:ext cx="749808" cy="329184"/>
          </a:xfrm>
          <a:prstGeom prst="roundRect">
            <a:avLst>
              <a:gd name="adj" fmla="val 13889"/>
            </a:avLst>
          </a:prstGeom>
          <a:solidFill>
            <a:schemeClr val="accent1"/>
          </a:solidFill>
          <a:ln w="12700">
            <a:solidFill>
              <a:schemeClr val="accent1"/>
            </a:solidFill>
            <a:prstDash val="solid"/>
          </a:ln>
        </p:spPr>
      </p:sp>
      <p:sp>
        <p:nvSpPr>
          <p:cNvPr id="18" name="gridcell_15"/>
          <p:cNvSpPr/>
          <p:nvPr/>
        </p:nvSpPr>
        <p:spPr>
          <a:xfrm>
            <a:off x="6830568" y="2642616"/>
            <a:ext cx="749808" cy="329184"/>
          </a:xfrm>
          <a:prstGeom prst="roundRect">
            <a:avLst>
              <a:gd name="adj" fmla="val 13889"/>
            </a:avLst>
          </a:prstGeom>
          <a:solidFill>
            <a:schemeClr val="accent1"/>
          </a:solidFill>
          <a:ln w="12700">
            <a:solidFill>
              <a:schemeClr val="accent1"/>
            </a:solidFill>
            <a:prstDash val="solid"/>
          </a:ln>
        </p:spPr>
      </p:sp>
      <p:sp>
        <p:nvSpPr>
          <p:cNvPr id="19" name="gridcell_16"/>
          <p:cNvSpPr/>
          <p:nvPr/>
        </p:nvSpPr>
        <p:spPr>
          <a:xfrm>
            <a:off x="7671816" y="2642616"/>
            <a:ext cx="749808" cy="329184"/>
          </a:xfrm>
          <a:prstGeom prst="roundRect">
            <a:avLst>
              <a:gd name="adj" fmla="val 13889"/>
            </a:avLst>
          </a:prstGeom>
          <a:solidFill>
            <a:schemeClr val="accent1"/>
          </a:solidFill>
          <a:ln w="12700">
            <a:solidFill>
              <a:schemeClr val="accent1"/>
            </a:solidFill>
            <a:prstDash val="solid"/>
          </a:ln>
        </p:spPr>
      </p:sp>
      <p:sp>
        <p:nvSpPr>
          <p:cNvPr id="20" name="gridcell_17"/>
          <p:cNvSpPr/>
          <p:nvPr/>
        </p:nvSpPr>
        <p:spPr>
          <a:xfrm>
            <a:off x="5989320" y="3063240"/>
            <a:ext cx="749808" cy="329184"/>
          </a:xfrm>
          <a:prstGeom prst="roundRect">
            <a:avLst>
              <a:gd name="adj" fmla="val 13889"/>
            </a:avLst>
          </a:prstGeom>
          <a:solidFill>
            <a:schemeClr val="tx2"/>
          </a:solidFill>
          <a:ln w="12700">
            <a:solidFill>
              <a:schemeClr val="tx2"/>
            </a:solidFill>
            <a:prstDash val="solid"/>
          </a:ln>
        </p:spPr>
      </p:sp>
      <p:sp>
        <p:nvSpPr>
          <p:cNvPr id="21" name="gridcell_18"/>
          <p:cNvSpPr/>
          <p:nvPr/>
        </p:nvSpPr>
        <p:spPr>
          <a:xfrm>
            <a:off x="6830568" y="3063240"/>
            <a:ext cx="749808" cy="329184"/>
          </a:xfrm>
          <a:prstGeom prst="roundRect">
            <a:avLst>
              <a:gd name="adj" fmla="val 13889"/>
            </a:avLst>
          </a:prstGeom>
          <a:solidFill>
            <a:schemeClr val="tx2"/>
          </a:solidFill>
          <a:ln w="12700">
            <a:solidFill>
              <a:schemeClr val="tx2"/>
            </a:solidFill>
            <a:prstDash val="solid"/>
          </a:ln>
        </p:spPr>
      </p:sp>
      <p:sp>
        <p:nvSpPr>
          <p:cNvPr id="22" name="gridcell_19"/>
          <p:cNvSpPr/>
          <p:nvPr/>
        </p:nvSpPr>
        <p:spPr>
          <a:xfrm>
            <a:off x="7671816" y="3063240"/>
            <a:ext cx="749808" cy="329184"/>
          </a:xfrm>
          <a:prstGeom prst="roundRect">
            <a:avLst>
              <a:gd name="adj" fmla="val 13889"/>
            </a:avLst>
          </a:prstGeom>
          <a:solidFill>
            <a:schemeClr val="tx2"/>
          </a:solidFill>
          <a:ln w="12700">
            <a:solidFill>
              <a:schemeClr val="tx2"/>
            </a:solidFill>
            <a:prstDash val="solid"/>
          </a:ln>
        </p:spPr>
      </p:sp>
      <p:sp>
        <p:nvSpPr>
          <p:cNvPr id="23" name="gridcell_20"/>
          <p:cNvSpPr/>
          <p:nvPr/>
        </p:nvSpPr>
        <p:spPr>
          <a:xfrm>
            <a:off x="5989320" y="3483864"/>
            <a:ext cx="749808" cy="329184"/>
          </a:xfrm>
          <a:prstGeom prst="roundRect">
            <a:avLst>
              <a:gd name="adj" fmla="val 13889"/>
            </a:avLst>
          </a:prstGeom>
          <a:solidFill>
            <a:schemeClr val="tx2"/>
          </a:solidFill>
          <a:ln w="12700">
            <a:solidFill>
              <a:schemeClr val="tx2"/>
            </a:solidFill>
            <a:prstDash val="solid"/>
          </a:ln>
        </p:spPr>
      </p:sp>
      <p:sp>
        <p:nvSpPr>
          <p:cNvPr id="24" name="gridcell_21"/>
          <p:cNvSpPr/>
          <p:nvPr/>
        </p:nvSpPr>
        <p:spPr>
          <a:xfrm>
            <a:off x="6830568" y="3483864"/>
            <a:ext cx="749808" cy="329184"/>
          </a:xfrm>
          <a:prstGeom prst="roundRect">
            <a:avLst>
              <a:gd name="adj" fmla="val 13889"/>
            </a:avLst>
          </a:prstGeom>
          <a:solidFill>
            <a:schemeClr val="tx2"/>
          </a:solidFill>
          <a:ln w="12700">
            <a:solidFill>
              <a:schemeClr val="tx2"/>
            </a:solidFill>
            <a:prstDash val="solid"/>
          </a:ln>
        </p:spPr>
      </p:sp>
      <p:sp>
        <p:nvSpPr>
          <p:cNvPr id="25" name="gridcell_22"/>
          <p:cNvSpPr/>
          <p:nvPr/>
        </p:nvSpPr>
        <p:spPr>
          <a:xfrm>
            <a:off x="7671816" y="3483864"/>
            <a:ext cx="749808" cy="329184"/>
          </a:xfrm>
          <a:prstGeom prst="roundRect">
            <a:avLst>
              <a:gd name="adj" fmla="val 13889"/>
            </a:avLst>
          </a:prstGeom>
          <a:solidFill>
            <a:schemeClr val="tx2"/>
          </a:solidFill>
          <a:ln w="12700">
            <a:solidFill>
              <a:schemeClr val="tx2"/>
            </a:solidFill>
            <a:prstDash val="solid"/>
          </a:ln>
        </p:spPr>
      </p:sp>
      <p:sp>
        <p:nvSpPr>
          <p:cNvPr id="26" name="window_23"/>
          <p:cNvSpPr/>
          <p:nvPr/>
        </p:nvSpPr>
        <p:spPr>
          <a:xfrm>
            <a:off x="5897880" y="1709928"/>
            <a:ext cx="2615184" cy="1353312"/>
          </a:xfrm>
          <a:prstGeom prst="roundRect">
            <a:avLst>
              <a:gd name="adj" fmla="val 5405"/>
            </a:avLst>
          </a:prstGeom>
          <a:solidFill>
            <a:schemeClr val="tx1">
              <a:alpha val="0"/>
            </a:schemeClr>
          </a:solidFill>
          <a:ln w="31750">
            <a:solidFill>
              <a:schemeClr val="accent2"/>
            </a:solidFill>
            <a:prstDash val="solid"/>
          </a:ln>
        </p:spPr>
      </p:sp>
      <p:sp>
        <p:nvSpPr>
          <p:cNvPr id="27" name="cap_24"/>
          <p:cNvSpPr txBox="1"/>
          <p:nvPr/>
        </p:nvSpPr>
        <p:spPr>
          <a:xfrm>
            <a:off x="5989320" y="3950208"/>
            <a:ext cx="2432304" cy="274320"/>
          </a:xfrm>
          <a:prstGeom prst="rect">
            <a:avLst/>
          </a:prstGeom>
          <a:noFill/>
          <a:ln/>
        </p:spPr>
        <p:txBody>
          <a:bodyPr wrap="square" lIns="0" tIns="0" rIns="0" bIns="0" rtlCol="0" anchor="ctr"/>
          <a:lstStyle/>
          <a:p>
            <a:pPr marL="0" indent="0" algn="ctr">
              <a:buNone/>
            </a:pPr>
            <a:r>
              <a:rPr lang="en-US" sz="1200" i="1" dirty="0">
                <a:solidFill>
                  <a:schemeClr val="accent2"/>
                </a:solidFill>
              </a:rPr>
              <a:t>the window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daynum_62"/>
          <p:cNvSpPr txBox="1"/>
          <p:nvPr/>
        </p:nvSpPr>
        <p:spPr>
          <a:xfrm>
            <a:off x="548640" y="502920"/>
            <a:ext cx="2011680" cy="1097280"/>
          </a:xfrm>
          <a:prstGeom prst="rect">
            <a:avLst/>
          </a:prstGeom>
          <a:noFill/>
          <a:ln/>
        </p:spPr>
        <p:txBody>
          <a:bodyPr wrap="square" lIns="0" tIns="0" rIns="0" bIns="0" rtlCol="0" anchor="ctr"/>
          <a:lstStyle/>
          <a:p>
            <a:pPr marL="0" indent="0">
              <a:buNone/>
            </a:pPr>
            <a:r>
              <a:rPr lang="en-US" sz="7200" b="1" dirty="0">
                <a:solidFill>
                  <a:schemeClr val="accent2"/>
                </a:solidFill>
                <a:latin typeface="Cambria" pitchFamily="34" charset="0"/>
                <a:ea typeface="Cambria" pitchFamily="34" charset="-122"/>
                <a:cs typeface="Cambria" pitchFamily="34" charset="-120"/>
              </a:rPr>
              <a:t>01</a:t>
            </a:r>
            <a:endParaRPr lang="en-US" sz="7200" dirty="0"/>
          </a:p>
        </p:txBody>
      </p:sp>
      <p:sp>
        <p:nvSpPr>
          <p:cNvPr id="3" name="daylbl_63"/>
          <p:cNvSpPr txBox="1"/>
          <p:nvPr/>
        </p:nvSpPr>
        <p:spPr>
          <a:xfrm>
            <a:off x="2331720" y="868680"/>
            <a:ext cx="1097280" cy="365760"/>
          </a:xfrm>
          <a:prstGeom prst="rect">
            <a:avLst/>
          </a:prstGeom>
          <a:noFill/>
          <a:ln/>
        </p:spPr>
        <p:txBody>
          <a:bodyPr wrap="square" lIns="0" tIns="0" rIns="0" bIns="0" rtlCol="0" anchor="ctr"/>
          <a:lstStyle/>
          <a:p>
            <a:pPr marL="0" indent="0">
              <a:buNone/>
            </a:pPr>
            <a:r>
              <a:rPr lang="en-US" sz="1600" b="1" kern="0" spc="400" dirty="0">
                <a:solidFill>
                  <a:schemeClr val="accent5"/>
                </a:solidFill>
              </a:rPr>
              <a:t>DAY</a:t>
            </a:r>
            <a:endParaRPr lang="en-US" sz="1600" dirty="0"/>
          </a:p>
        </p:txBody>
      </p:sp>
      <p:sp>
        <p:nvSpPr>
          <p:cNvPr id="4" name="Text 0"/>
          <p:cNvSpPr>
            <a:spLocks noGrp="1"/>
          </p:cNvSpPr>
          <p:nvPr>
            <p:ph type="title" idx="100" hasCustomPrompt="1"/>
          </p:nvPr>
        </p:nvSpPr>
        <p:spPr>
          <a:xfrm>
            <a:off x="548640" y="1965960"/>
            <a:ext cx="8046720" cy="822960"/>
          </a:xfrm>
          <a:prstGeom prst="rect">
            <a:avLst/>
          </a:prstGeom>
          <a:noFill/>
          <a:ln/>
        </p:spPr>
        <p:txBody>
          <a:bodyPr wrap="square" lIns="0" tIns="0" rIns="0" bIns="0" rtlCol="0" anchor="ctr"/>
          <a:lstStyle/>
          <a:p>
            <a:pPr marL="0" indent="0" algn="l">
              <a:buNone/>
            </a:pPr>
            <a:r>
              <a:rPr lang="en-US" sz="4000" b="1" dirty="0">
                <a:solidFill>
                  <a:schemeClr val="bg1"/>
                </a:solidFill>
              </a:rPr>
              <a:t>Intro: What Is a Window?</a:t>
            </a:r>
            <a:endParaRPr lang="en-US" sz="4000" dirty="0"/>
          </a:p>
        </p:txBody>
      </p:sp>
      <p:sp>
        <p:nvSpPr>
          <p:cNvPr id="5" name="Text 0"/>
          <p:cNvSpPr>
            <a:spLocks noGrp="1"/>
          </p:cNvSpPr>
          <p:nvPr>
            <p:ph type="body" idx="101" hasCustomPrompt="1"/>
          </p:nvPr>
        </p:nvSpPr>
        <p:spPr>
          <a:xfrm>
            <a:off x="548640" y="2880360"/>
            <a:ext cx="7863840" cy="822960"/>
          </a:xfrm>
          <a:prstGeom prst="rect">
            <a:avLst/>
          </a:prstGeom>
          <a:noFill/>
          <a:ln/>
        </p:spPr>
        <p:txBody>
          <a:bodyPr wrap="square" lIns="0" tIns="0" rIns="0" bIns="0" rtlCol="0" anchor="t"/>
          <a:lstStyle/>
          <a:p>
            <a:pPr marL="0" indent="0">
              <a:buNone/>
            </a:pPr>
            <a:r>
              <a:rPr lang="en-US" sz="1600" dirty="0">
                <a:solidFill>
                  <a:schemeClr val="accent5"/>
                </a:solidFill>
              </a:rPr>
              <a:t>Window vs GROUP BY  ·  the OVER() clause  ·  SUM / AVG / COUNT / MIN / MAX over the whole table  ·  % of total</a:t>
            </a:r>
            <a:endParaRPr lang="en-US" sz="1600" dirty="0"/>
          </a:p>
        </p:txBody>
      </p:sp>
      <p:sp>
        <p:nvSpPr>
          <p:cNvPr id="6" name="chip_64"/>
          <p:cNvSpPr txBox="1"/>
          <p:nvPr/>
        </p:nvSpPr>
        <p:spPr>
          <a:xfrm>
            <a:off x="548640" y="4114800"/>
            <a:ext cx="2286000" cy="329184"/>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dirty="0">
                <a:solidFill>
                  <a:schemeClr val="bg1"/>
                </a:solidFill>
              </a:rPr>
              <a:t>Dataset: employees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600" b="1" dirty="0">
                <a:solidFill>
                  <a:schemeClr val="tx1"/>
                </a:solidFill>
              </a:rPr>
              <a:t>Simple Example: OVER()</a:t>
            </a:r>
            <a:endParaRPr lang="en-US" sz="3600" dirty="0"/>
          </a:p>
        </p:txBody>
      </p:sp>
      <p:sp>
        <p:nvSpPr>
          <p:cNvPr id="3" name="chip_65"/>
          <p:cNvSpPr txBox="1"/>
          <p:nvPr/>
        </p:nvSpPr>
        <p:spPr>
          <a:xfrm>
            <a:off x="457200" y="256032"/>
            <a:ext cx="77724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dirty="0">
                <a:solidFill>
                  <a:schemeClr val="bg1"/>
                </a:solidFill>
              </a:rPr>
              <a:t>DAY 1</a:t>
            </a:r>
            <a:endParaRPr lang="en-US" sz="1000" dirty="0"/>
          </a:p>
        </p:txBody>
      </p:sp>
      <p:sp>
        <p:nvSpPr>
          <p:cNvPr id="5" name="q_66"/>
          <p:cNvSpPr txBox="1"/>
          <p:nvPr/>
        </p:nvSpPr>
        <p:spPr>
          <a:xfrm>
            <a:off x="457200" y="1261872"/>
            <a:ext cx="8229600" cy="320040"/>
          </a:xfrm>
          <a:prstGeom prst="rect">
            <a:avLst/>
          </a:prstGeom>
          <a:noFill/>
          <a:ln/>
        </p:spPr>
        <p:txBody>
          <a:bodyPr wrap="square" lIns="0" tIns="0" rIns="0" bIns="0" rtlCol="0" anchor="ctr"/>
          <a:lstStyle/>
          <a:p>
            <a:pPr marL="0" indent="0">
              <a:buNone/>
            </a:pPr>
            <a:r>
              <a:rPr lang="en-US" sz="1500" i="1" dirty="0">
                <a:solidFill>
                  <a:schemeClr val="accent1"/>
                </a:solidFill>
              </a:rPr>
              <a:t>Show every fruit AND the total quantity on the same row</a:t>
            </a:r>
            <a:endParaRPr lang="en-US" sz="1500" dirty="0"/>
          </a:p>
        </p:txBody>
      </p:sp>
      <p:sp>
        <p:nvSpPr>
          <p:cNvPr id="6" name="chip_67"/>
          <p:cNvSpPr txBox="1"/>
          <p:nvPr/>
        </p:nvSpPr>
        <p:spPr>
          <a:xfrm>
            <a:off x="457200" y="1691640"/>
            <a:ext cx="868680" cy="237744"/>
          </a:xfrm>
          <a:prstGeom prst="roundRect">
            <a:avLst>
              <a:gd name="adj" fmla="val 50000"/>
            </a:avLst>
          </a:prstGeom>
          <a:solidFill>
            <a:schemeClr val="tx2"/>
          </a:solidFill>
          <a:ln/>
        </p:spPr>
        <p:txBody>
          <a:bodyPr wrap="square" lIns="0" tIns="0" rIns="0" bIns="0" rtlCol="0" anchor="ctr"/>
          <a:lstStyle/>
          <a:p>
            <a:pPr marL="0" indent="0" algn="ctr">
              <a:buNone/>
            </a:pPr>
            <a:r>
              <a:rPr lang="en-US" sz="1000" b="1" dirty="0">
                <a:solidFill>
                  <a:schemeClr val="bg1"/>
                </a:solidFill>
              </a:rPr>
              <a:t>INPUT</a:t>
            </a:r>
            <a:endParaRPr lang="en-US" sz="1000" dirty="0"/>
          </a:p>
        </p:txBody>
      </p:sp>
      <p:sp>
        <p:nvSpPr>
          <p:cNvPr id="7" name="chip_68"/>
          <p:cNvSpPr txBox="1"/>
          <p:nvPr/>
        </p:nvSpPr>
        <p:spPr>
          <a:xfrm>
            <a:off x="4572000" y="1691640"/>
            <a:ext cx="960120" cy="237744"/>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dirty="0">
                <a:solidFill>
                  <a:schemeClr val="bg1"/>
                </a:solidFill>
              </a:rPr>
              <a:t>OUTPUT</a:t>
            </a:r>
            <a:endParaRPr lang="en-US" sz="1000" dirty="0"/>
          </a:p>
        </p:txBody>
      </p:sp>
      <p:graphicFrame>
        <p:nvGraphicFramePr>
          <p:cNvPr id="4" name="table_69"/>
          <p:cNvGraphicFramePr>
            <a:graphicFrameLocks noGrp="1"/>
          </p:cNvGraphicFramePr>
          <p:nvPr>
            <p:extLst>
              <p:ext uri="{D42A27DB-BD31-4B8C-83A1-F6EECF244321}">
                <p14:modId xmlns:p14="http://schemas.microsoft.com/office/powerpoint/2010/main" val="1579011935"/>
              </p:ext>
            </p:extLst>
          </p:nvPr>
        </p:nvGraphicFramePr>
        <p:xfrm>
          <a:off x="457200" y="2011680"/>
          <a:ext cx="3108960" cy="987552"/>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246888">
                <a:tc>
                  <a:txBody>
                    <a:bodyPr/>
                    <a:lstStyle/>
                    <a:p>
                      <a:pPr marL="0" indent="0" algn="ctr">
                        <a:buNone/>
                      </a:pPr>
                      <a:r>
                        <a:rPr lang="en-US" sz="1200" b="1" dirty="0">
                          <a:solidFill>
                            <a:schemeClr val="bg1"/>
                          </a:solidFill>
                        </a:rPr>
                        <a:t>fruit</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qty</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46888">
                <a:tc>
                  <a:txBody>
                    <a:bodyPr/>
                    <a:lstStyle/>
                    <a:p>
                      <a:pPr marL="0" indent="0" algn="ctr">
                        <a:buNone/>
                      </a:pPr>
                      <a:r>
                        <a:rPr lang="en-US" sz="1200" dirty="0">
                          <a:solidFill>
                            <a:schemeClr val="tx1"/>
                          </a:solidFill>
                        </a:rPr>
                        <a:t>Apple</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6888">
                <a:tc>
                  <a:txBody>
                    <a:bodyPr/>
                    <a:lstStyle/>
                    <a:p>
                      <a:pPr marL="0" indent="0" algn="ctr">
                        <a:buNone/>
                      </a:pPr>
                      <a:r>
                        <a:rPr lang="en-US" sz="1200" dirty="0">
                          <a:solidFill>
                            <a:schemeClr val="tx1"/>
                          </a:solidFill>
                        </a:rPr>
                        <a:t>Banana</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20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46888">
                <a:tc>
                  <a:txBody>
                    <a:bodyPr/>
                    <a:lstStyle/>
                    <a:p>
                      <a:pPr marL="0" indent="0" algn="ctr">
                        <a:buNone/>
                      </a:pPr>
                      <a:r>
                        <a:rPr lang="en-US" sz="1200" dirty="0">
                          <a:solidFill>
                            <a:schemeClr val="tx1"/>
                          </a:solidFill>
                        </a:rPr>
                        <a:t>Mango</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9" name="arrow_70"/>
          <p:cNvSpPr/>
          <p:nvPr/>
        </p:nvSpPr>
        <p:spPr>
          <a:xfrm>
            <a:off x="3703320" y="2307946"/>
            <a:ext cx="731520" cy="384048"/>
          </a:xfrm>
          <a:prstGeom prst="rightArrow">
            <a:avLst/>
          </a:prstGeom>
          <a:solidFill>
            <a:schemeClr val="accent2"/>
          </a:solidFill>
          <a:ln w="12700">
            <a:solidFill>
              <a:schemeClr val="accent2"/>
            </a:solidFill>
            <a:prstDash val="solid"/>
          </a:ln>
        </p:spPr>
      </p:sp>
      <p:graphicFrame>
        <p:nvGraphicFramePr>
          <p:cNvPr id="8" name="table_71"/>
          <p:cNvGraphicFramePr>
            <a:graphicFrameLocks noGrp="1"/>
          </p:cNvGraphicFramePr>
          <p:nvPr>
            <p:extLst>
              <p:ext uri="{D42A27DB-BD31-4B8C-83A1-F6EECF244321}">
                <p14:modId xmlns:p14="http://schemas.microsoft.com/office/powerpoint/2010/main" val="1579011935"/>
              </p:ext>
            </p:extLst>
          </p:nvPr>
        </p:nvGraphicFramePr>
        <p:xfrm>
          <a:off x="4572000" y="2011680"/>
          <a:ext cx="4114800" cy="987552"/>
        </p:xfrm>
        <a:graphic>
          <a:graphicData uri="http://schemas.openxmlformats.org/drawingml/2006/table">
            <a:tbl>
              <a:tblPr/>
              <a:tblGrid>
                <a:gridCol w="14630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246888">
                <a:tc>
                  <a:txBody>
                    <a:bodyPr/>
                    <a:lstStyle/>
                    <a:p>
                      <a:pPr marL="0" indent="0" algn="ctr">
                        <a:buNone/>
                      </a:pPr>
                      <a:r>
                        <a:rPr lang="en-US" sz="1200" b="1" dirty="0">
                          <a:solidFill>
                            <a:schemeClr val="bg1"/>
                          </a:solidFill>
                        </a:rPr>
                        <a:t>fruit</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qty</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ctr">
                        <a:buNone/>
                      </a:pPr>
                      <a:r>
                        <a:rPr lang="en-US" sz="1200" b="1" dirty="0">
                          <a:solidFill>
                            <a:schemeClr val="bg1"/>
                          </a:solidFill>
                        </a:rPr>
                        <a:t>total_qty</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46888">
                <a:tc>
                  <a:txBody>
                    <a:bodyPr/>
                    <a:lstStyle/>
                    <a:p>
                      <a:pPr marL="0" indent="0" algn="ctr">
                        <a:buNone/>
                      </a:pPr>
                      <a:r>
                        <a:rPr lang="en-US" sz="1200" dirty="0">
                          <a:solidFill>
                            <a:schemeClr val="tx1"/>
                          </a:solidFill>
                        </a:rPr>
                        <a:t>Apple</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10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60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246888">
                <a:tc>
                  <a:txBody>
                    <a:bodyPr/>
                    <a:lstStyle/>
                    <a:p>
                      <a:pPr marL="0" indent="0" algn="ctr">
                        <a:buNone/>
                      </a:pPr>
                      <a:r>
                        <a:rPr lang="en-US" sz="1200" dirty="0">
                          <a:solidFill>
                            <a:schemeClr val="tx1"/>
                          </a:solidFill>
                        </a:rPr>
                        <a:t>Banana</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20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60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2"/>
                  </a:ext>
                </a:extLst>
              </a:tr>
              <a:tr h="246888">
                <a:tc>
                  <a:txBody>
                    <a:bodyPr/>
                    <a:lstStyle/>
                    <a:p>
                      <a:pPr marL="0" indent="0" algn="ctr">
                        <a:buNone/>
                      </a:pPr>
                      <a:r>
                        <a:rPr lang="en-US" sz="1200" dirty="0">
                          <a:solidFill>
                            <a:schemeClr val="tx1"/>
                          </a:solidFill>
                        </a:rPr>
                        <a:t>Mango</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30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60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3"/>
                  </a:ext>
                </a:extLst>
              </a:tr>
            </a:tbl>
          </a:graphicData>
        </a:graphic>
      </p:graphicFrame>
      <p:sp>
        <p:nvSpPr>
          <p:cNvPr id="11" name="codebg_72"/>
          <p:cNvSpPr/>
          <p:nvPr/>
        </p:nvSpPr>
        <p:spPr>
          <a:xfrm>
            <a:off x="457200" y="3227832"/>
            <a:ext cx="8229600" cy="1325880"/>
          </a:xfrm>
          <a:prstGeom prst="roundRect">
            <a:avLst>
              <a:gd name="adj" fmla="val 5517"/>
            </a:avLst>
          </a:prstGeom>
          <a:solidFill>
            <a:schemeClr val="tx1"/>
          </a:solidFill>
          <a:ln w="12700">
            <a:solidFill>
              <a:schemeClr val="tx1"/>
            </a:solidFill>
            <a:prstDash val="solid"/>
          </a:ln>
        </p:spPr>
      </p:sp>
      <p:sp>
        <p:nvSpPr>
          <p:cNvPr id="12" name="code_73"/>
          <p:cNvSpPr txBox="1"/>
          <p:nvPr/>
        </p:nvSpPr>
        <p:spPr>
          <a:xfrm>
            <a:off x="566928" y="3282696"/>
            <a:ext cx="8010144" cy="1216152"/>
          </a:xfrm>
          <a:prstGeom prst="rect">
            <a:avLst/>
          </a:prstGeom>
          <a:noFill/>
          <a:ln/>
        </p:spPr>
        <p:txBody>
          <a:bodyPr wrap="square" lIns="508" tIns="508" rIns="508" bIns="508" rtlCol="0" anchor="ctr"/>
          <a:lstStyle/>
          <a:p>
            <a:pPr marL="0" indent="0">
              <a:buNone/>
            </a:pPr>
            <a:r>
              <a:rPr lang="en-US" sz="1200" b="1" dirty="0">
                <a:solidFill>
                  <a:schemeClr val="accent2"/>
                </a:solidFill>
                <a:latin typeface="Courier New" pitchFamily="34" charset="0"/>
                <a:ea typeface="Courier New" pitchFamily="34" charset="-122"/>
                <a:cs typeface="Courier New" pitchFamily="34" charset="-120"/>
              </a:rPr>
              <a:t>SELECT</a:t>
            </a:r>
            <a:r>
              <a:rPr lang="en-US" sz="1200" dirty="0">
                <a:solidFill>
                  <a:schemeClr val="bg1"/>
                </a:solidFill>
                <a:latin typeface="Courier New" pitchFamily="34" charset="0"/>
                <a:ea typeface="Courier New" pitchFamily="34" charset="-122"/>
                <a:cs typeface="Courier New" pitchFamily="34" charset="-120"/>
              </a:rPr>
              <a:t> fruit, qty,</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t>
            </a:r>
            <a:r>
              <a:rPr lang="en-US" sz="1200" dirty="0">
                <a:solidFill>
                  <a:schemeClr val="accent5"/>
                </a:solidFill>
                <a:latin typeface="Courier New" pitchFamily="34" charset="0"/>
                <a:ea typeface="Courier New" pitchFamily="34" charset="-122"/>
                <a:cs typeface="Courier New" pitchFamily="34" charset="-120"/>
              </a:rPr>
              <a:t>SUM</a:t>
            </a:r>
            <a:r>
              <a:rPr lang="en-US" sz="1200" dirty="0">
                <a:solidFill>
                  <a:schemeClr val="bg1"/>
                </a:solidFill>
                <a:latin typeface="Courier New" pitchFamily="34" charset="0"/>
                <a:ea typeface="Courier New" pitchFamily="34" charset="-122"/>
                <a:cs typeface="Courier New" pitchFamily="34" charset="-120"/>
              </a:rPr>
              <a:t>(qty) </a:t>
            </a:r>
            <a:r>
              <a:rPr lang="en-US" sz="1200" b="1" dirty="0">
                <a:solidFill>
                  <a:schemeClr val="accent2"/>
                </a:solidFill>
                <a:latin typeface="Courier New" pitchFamily="34" charset="0"/>
                <a:ea typeface="Courier New" pitchFamily="34" charset="-122"/>
                <a:cs typeface="Courier New" pitchFamily="34" charset="-120"/>
              </a:rPr>
              <a:t>OVER</a:t>
            </a:r>
            <a:r>
              <a:rPr lang="en-US" sz="1200" dirty="0">
                <a:solidFill>
                  <a:schemeClr val="bg1"/>
                </a:solidFill>
                <a:latin typeface="Courier New" pitchFamily="34" charset="0"/>
                <a:ea typeface="Courier New" pitchFamily="34" charset="-122"/>
                <a:cs typeface="Courier New" pitchFamily="34" charset="-120"/>
              </a:rPr>
              <a:t> () </a:t>
            </a:r>
            <a:r>
              <a:rPr lang="en-US" sz="1200" b="1" dirty="0">
                <a:solidFill>
                  <a:schemeClr val="accent2"/>
                </a:solidFill>
                <a:latin typeface="Courier New" pitchFamily="34" charset="0"/>
                <a:ea typeface="Courier New" pitchFamily="34" charset="-122"/>
                <a:cs typeface="Courier New" pitchFamily="34" charset="-120"/>
              </a:rPr>
              <a:t>AS</a:t>
            </a:r>
            <a:r>
              <a:rPr lang="en-US" sz="1200" dirty="0">
                <a:solidFill>
                  <a:schemeClr val="bg1"/>
                </a:solidFill>
                <a:latin typeface="Courier New" pitchFamily="34" charset="0"/>
                <a:ea typeface="Courier New" pitchFamily="34" charset="-122"/>
                <a:cs typeface="Courier New" pitchFamily="34" charset="-120"/>
              </a:rPr>
              <a:t> total_qty</a:t>
            </a:r>
            <a:endParaRPr lang="en-US" sz="1200" dirty="0"/>
          </a:p>
          <a:p>
            <a:pPr marL="0" indent="0">
              <a:buNone/>
            </a:pPr>
            <a:r>
              <a:rPr lang="en-US" sz="1200" b="1" dirty="0">
                <a:solidFill>
                  <a:schemeClr val="accent2"/>
                </a:solidFill>
                <a:latin typeface="Courier New" pitchFamily="34" charset="0"/>
                <a:ea typeface="Courier New" pitchFamily="34" charset="-122"/>
                <a:cs typeface="Courier New" pitchFamily="34" charset="-120"/>
              </a:rPr>
              <a:t>FROM</a:t>
            </a:r>
            <a:r>
              <a:rPr lang="en-US" sz="1200" dirty="0">
                <a:solidFill>
                  <a:schemeClr val="bg1"/>
                </a:solidFill>
                <a:latin typeface="Courier New" pitchFamily="34" charset="0"/>
                <a:ea typeface="Courier New" pitchFamily="34" charset="-122"/>
                <a:cs typeface="Courier New" pitchFamily="34" charset="-120"/>
              </a:rPr>
              <a:t> fruit_sales;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600" b="1" dirty="0">
                <a:solidFill>
                  <a:schemeClr val="tx1"/>
                </a:solidFill>
              </a:rPr>
              <a:t>GROUP BY vs Window</a:t>
            </a:r>
            <a:endParaRPr lang="en-US" sz="3600" dirty="0"/>
          </a:p>
        </p:txBody>
      </p:sp>
      <p:sp>
        <p:nvSpPr>
          <p:cNvPr id="3" name="chip_74"/>
          <p:cNvSpPr txBox="1"/>
          <p:nvPr/>
        </p:nvSpPr>
        <p:spPr>
          <a:xfrm>
            <a:off x="457200" y="256032"/>
            <a:ext cx="77724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dirty="0">
                <a:solidFill>
                  <a:schemeClr val="bg1"/>
                </a:solidFill>
              </a:rPr>
              <a:t>DAY 1</a:t>
            </a:r>
            <a:endParaRPr lang="en-US" sz="1000" dirty="0"/>
          </a:p>
        </p:txBody>
      </p:sp>
      <p:sp>
        <p:nvSpPr>
          <p:cNvPr id="5" name="h_75"/>
          <p:cNvSpPr txBox="1"/>
          <p:nvPr/>
        </p:nvSpPr>
        <p:spPr>
          <a:xfrm>
            <a:off x="457200" y="1325880"/>
            <a:ext cx="3383280" cy="320040"/>
          </a:xfrm>
          <a:prstGeom prst="rect">
            <a:avLst/>
          </a:prstGeom>
          <a:noFill/>
          <a:ln/>
        </p:spPr>
        <p:txBody>
          <a:bodyPr wrap="square" lIns="0" tIns="0" rIns="0" bIns="0" rtlCol="0" anchor="ctr"/>
          <a:lstStyle/>
          <a:p>
            <a:pPr marL="0" indent="0">
              <a:buNone/>
            </a:pPr>
            <a:r>
              <a:rPr lang="en-US" sz="1600" b="1" dirty="0">
                <a:solidFill>
                  <a:schemeClr val="tx1"/>
                </a:solidFill>
              </a:rPr>
              <a:t>GROUP BY collapses rows</a:t>
            </a:r>
            <a:endParaRPr lang="en-US" sz="1600" dirty="0"/>
          </a:p>
        </p:txBody>
      </p:sp>
      <p:graphicFrame>
        <p:nvGraphicFramePr>
          <p:cNvPr id="6" name="table_76"/>
          <p:cNvGraphicFramePr>
            <a:graphicFrameLocks noGrp="1"/>
          </p:cNvGraphicFramePr>
          <p:nvPr>
            <p:extLst>
              <p:ext uri="{D42A27DB-BD31-4B8C-83A1-F6EECF244321}">
                <p14:modId xmlns:p14="http://schemas.microsoft.com/office/powerpoint/2010/main" val="1579011935"/>
              </p:ext>
            </p:extLst>
          </p:nvPr>
        </p:nvGraphicFramePr>
        <p:xfrm>
          <a:off x="457200" y="1737360"/>
          <a:ext cx="3383280" cy="1463040"/>
        </p:xfrm>
        <a:graphic>
          <a:graphicData uri="http://schemas.openxmlformats.org/drawingml/2006/table">
            <a:tbl>
              <a:tblPr/>
              <a:tblGrid>
                <a:gridCol w="17373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292608">
                <a:tc>
                  <a:txBody>
                    <a:bodyPr/>
                    <a:lstStyle/>
                    <a:p>
                      <a:pPr marL="0" indent="0" algn="l">
                        <a:buNone/>
                      </a:pPr>
                      <a:r>
                        <a:rPr lang="en-US" sz="1200" b="1" dirty="0">
                          <a:solidFill>
                            <a:schemeClr val="bg1"/>
                          </a:solidFill>
                        </a:rPr>
                        <a:t>department</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l">
                        <a:buNone/>
                      </a:pPr>
                      <a:r>
                        <a:rPr lang="en-US" sz="1200" b="1" dirty="0">
                          <a:solidFill>
                            <a:schemeClr val="bg1"/>
                          </a:solidFill>
                        </a:rPr>
                        <a:t>avg_salary</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92608">
                <a:tc>
                  <a:txBody>
                    <a:bodyPr/>
                    <a:lstStyle/>
                    <a:p>
                      <a:pPr marL="0" indent="0" algn="l">
                        <a:buNone/>
                      </a:pPr>
                      <a:r>
                        <a:rPr lang="en-US" sz="1200" dirty="0">
                          <a:solidFill>
                            <a:schemeClr val="tx1"/>
                          </a:solidFill>
                        </a:rPr>
                        <a:t>Sales</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46,750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2608">
                <a:tc>
                  <a:txBody>
                    <a:bodyPr/>
                    <a:lstStyle/>
                    <a:p>
                      <a:pPr marL="0" indent="0" algn="l">
                        <a:buNone/>
                      </a:pPr>
                      <a:r>
                        <a:rPr lang="en-US" sz="1200" dirty="0">
                          <a:solidFill>
                            <a:schemeClr val="tx1"/>
                          </a:solidFill>
                        </a:rPr>
                        <a:t>IT</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80,000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2608">
                <a:tc>
                  <a:txBody>
                    <a:bodyPr/>
                    <a:lstStyle/>
                    <a:p>
                      <a:pPr marL="0" indent="0" algn="l">
                        <a:buNone/>
                      </a:pPr>
                      <a:r>
                        <a:rPr lang="en-US" sz="1200" dirty="0">
                          <a:solidFill>
                            <a:schemeClr val="tx1"/>
                          </a:solidFill>
                        </a:rPr>
                        <a:t>HR</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42,333</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2608">
                <a:tc>
                  <a:txBody>
                    <a:bodyPr/>
                    <a:lstStyle/>
                    <a:p>
                      <a:pPr marL="0" indent="0" algn="l">
                        <a:buNone/>
                      </a:pPr>
                      <a:r>
                        <a:rPr lang="en-US" sz="1200" dirty="0">
                          <a:solidFill>
                            <a:schemeClr val="tx1"/>
                          </a:solidFill>
                        </a:rPr>
                        <a:t>Finance</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64,250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h_77"/>
          <p:cNvSpPr txBox="1"/>
          <p:nvPr/>
        </p:nvSpPr>
        <p:spPr>
          <a:xfrm>
            <a:off x="4206240" y="1325880"/>
            <a:ext cx="4480560" cy="320040"/>
          </a:xfrm>
          <a:prstGeom prst="rect">
            <a:avLst/>
          </a:prstGeom>
          <a:noFill/>
          <a:ln/>
        </p:spPr>
        <p:txBody>
          <a:bodyPr wrap="square" lIns="0" tIns="0" rIns="0" bIns="0" rtlCol="0" anchor="ctr"/>
          <a:lstStyle/>
          <a:p>
            <a:pPr marL="0" indent="0">
              <a:buNone/>
            </a:pPr>
            <a:r>
              <a:rPr lang="en-US" sz="1600" b="1" dirty="0">
                <a:solidFill>
                  <a:schemeClr val="tx1"/>
                </a:solidFill>
              </a:rPr>
              <a:t>Window keeps every row</a:t>
            </a:r>
            <a:endParaRPr lang="en-US" sz="1600" dirty="0"/>
          </a:p>
        </p:txBody>
      </p:sp>
      <p:graphicFrame>
        <p:nvGraphicFramePr>
          <p:cNvPr id="11" name="table_78"/>
          <p:cNvGraphicFramePr>
            <a:graphicFrameLocks noGrp="1"/>
          </p:cNvGraphicFramePr>
          <p:nvPr>
            <p:extLst>
              <p:ext uri="{D42A27DB-BD31-4B8C-83A1-F6EECF244321}">
                <p14:modId xmlns:p14="http://schemas.microsoft.com/office/powerpoint/2010/main" val="1579011935"/>
              </p:ext>
            </p:extLst>
          </p:nvPr>
        </p:nvGraphicFramePr>
        <p:xfrm>
          <a:off x="4206240" y="1737360"/>
          <a:ext cx="4480560" cy="1755648"/>
        </p:xfrm>
        <a:graphic>
          <a:graphicData uri="http://schemas.openxmlformats.org/drawingml/2006/table">
            <a:tbl>
              <a:tblPr/>
              <a:tblGrid>
                <a:gridCol w="1097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92608">
                <a:tc>
                  <a:txBody>
                    <a:bodyPr/>
                    <a:lstStyle/>
                    <a:p>
                      <a:pPr marL="0" indent="0" algn="l">
                        <a:buNone/>
                      </a:pPr>
                      <a:r>
                        <a:rPr lang="en-US" sz="1200" b="1" dirty="0">
                          <a:solidFill>
                            <a:schemeClr val="bg1"/>
                          </a:solidFill>
                        </a:rPr>
                        <a:t>emp_name</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l">
                        <a:buNone/>
                      </a:pPr>
                      <a:r>
                        <a:rPr lang="en-US" sz="1200" b="1" dirty="0">
                          <a:solidFill>
                            <a:schemeClr val="bg1"/>
                          </a:solidFill>
                        </a:rPr>
                        <a:t>department</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l">
                        <a:buNone/>
                      </a:pPr>
                      <a:r>
                        <a:rPr lang="en-US" sz="1200" b="1" dirty="0">
                          <a:solidFill>
                            <a:schemeClr val="bg1"/>
                          </a:solidFill>
                        </a:rPr>
                        <a:t>salary</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l">
                        <a:buNone/>
                      </a:pPr>
                      <a:r>
                        <a:rPr lang="en-US" sz="1200" b="1" dirty="0">
                          <a:solidFill>
                            <a:schemeClr val="bg1"/>
                          </a:solidFill>
                        </a:rPr>
                        <a:t>dept_avg</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92608">
                <a:tc>
                  <a:txBody>
                    <a:bodyPr/>
                    <a:lstStyle/>
                    <a:p>
                      <a:pPr marL="0" indent="0" algn="l">
                        <a:buNone/>
                      </a:pPr>
                      <a:r>
                        <a:rPr lang="en-US" sz="1200" dirty="0">
                          <a:solidFill>
                            <a:schemeClr val="tx1"/>
                          </a:solidFill>
                        </a:rPr>
                        <a:t>Aarav</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Sales</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45,000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b="1" dirty="0">
                          <a:solidFill>
                            <a:schemeClr val="tx1"/>
                          </a:solidFill>
                        </a:rPr>
                        <a:t>46,750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292608">
                <a:tc>
                  <a:txBody>
                    <a:bodyPr/>
                    <a:lstStyle/>
                    <a:p>
                      <a:pPr marL="0" indent="0" algn="l">
                        <a:buNone/>
                      </a:pPr>
                      <a:r>
                        <a:rPr lang="en-US" sz="1200" dirty="0">
                          <a:solidFill>
                            <a:schemeClr val="tx1"/>
                          </a:solidFill>
                        </a:rPr>
                        <a:t>Diya</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Sales</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52,000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b="1" dirty="0">
                          <a:solidFill>
                            <a:schemeClr val="tx1"/>
                          </a:solidFill>
                        </a:rPr>
                        <a:t>46,750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2"/>
                  </a:ext>
                </a:extLst>
              </a:tr>
              <a:tr h="292608">
                <a:tc>
                  <a:txBody>
                    <a:bodyPr/>
                    <a:lstStyle/>
                    <a:p>
                      <a:pPr marL="0" indent="0" algn="l">
                        <a:buNone/>
                      </a:pPr>
                      <a:r>
                        <a:rPr lang="en-US" sz="1200" dirty="0">
                          <a:solidFill>
                            <a:schemeClr val="tx1"/>
                          </a:solidFill>
                        </a:rPr>
                        <a:t>Kabir</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IT</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85,000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b="1" dirty="0">
                          <a:solidFill>
                            <a:schemeClr val="tx1"/>
                          </a:solidFill>
                        </a:rPr>
                        <a:t>80,000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3"/>
                  </a:ext>
                </a:extLst>
              </a:tr>
              <a:tr h="292608">
                <a:tc>
                  <a:txBody>
                    <a:bodyPr/>
                    <a:lstStyle/>
                    <a:p>
                      <a:pPr marL="0" indent="0" algn="l">
                        <a:buNone/>
                      </a:pPr>
                      <a:r>
                        <a:rPr lang="en-US" sz="1200" dirty="0">
                          <a:solidFill>
                            <a:schemeClr val="tx1"/>
                          </a:solidFill>
                        </a:rPr>
                        <a:t>Ananya</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IT</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72,000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b="1" dirty="0">
                          <a:solidFill>
                            <a:schemeClr val="tx1"/>
                          </a:solidFill>
                        </a:rPr>
                        <a:t>80,000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4"/>
                  </a:ext>
                </a:extLst>
              </a:tr>
              <a:tr h="292608">
                <a:tc>
                  <a:txBody>
                    <a:bodyPr/>
                    <a:lstStyle/>
                    <a:p>
                      <a:pPr marL="0" indent="0" algn="l">
                        <a:buNone/>
                      </a:pPr>
                      <a:r>
                        <a:rPr lang="en-US" sz="1200" dirty="0">
                          <a:solidFill>
                            <a:schemeClr val="tx1"/>
                          </a:solidFill>
                        </a:rPr>
                        <a:t>Arjun</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HR</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dirty="0">
                          <a:solidFill>
                            <a:schemeClr val="tx1"/>
                          </a:solidFill>
                        </a:rPr>
                        <a:t>40,000</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l">
                        <a:buNone/>
                      </a:pPr>
                      <a:r>
                        <a:rPr lang="en-US" sz="1200" b="1" dirty="0">
                          <a:solidFill>
                            <a:schemeClr val="tx1"/>
                          </a:solidFill>
                        </a:rPr>
                        <a:t>42,333</a:t>
                      </a:r>
                      <a:endParaRPr lang="en-US" sz="12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5"/>
                  </a:ext>
                </a:extLst>
              </a:tr>
            </a:tbl>
          </a:graphicData>
        </a:graphic>
      </p:graphicFrame>
      <p:sp>
        <p:nvSpPr>
          <p:cNvPr id="9" name="codebg_79"/>
          <p:cNvSpPr/>
          <p:nvPr/>
        </p:nvSpPr>
        <p:spPr>
          <a:xfrm>
            <a:off x="457200" y="3840480"/>
            <a:ext cx="3383280" cy="502920"/>
          </a:xfrm>
          <a:prstGeom prst="roundRect">
            <a:avLst>
              <a:gd name="adj" fmla="val 14545"/>
            </a:avLst>
          </a:prstGeom>
          <a:solidFill>
            <a:schemeClr val="tx1"/>
          </a:solidFill>
          <a:ln w="12700">
            <a:solidFill>
              <a:schemeClr val="tx1"/>
            </a:solidFill>
            <a:prstDash val="solid"/>
          </a:ln>
        </p:spPr>
      </p:sp>
      <p:sp>
        <p:nvSpPr>
          <p:cNvPr id="10" name="code_80"/>
          <p:cNvSpPr txBox="1"/>
          <p:nvPr/>
        </p:nvSpPr>
        <p:spPr>
          <a:xfrm>
            <a:off x="566928" y="3895344"/>
            <a:ext cx="3163824" cy="393192"/>
          </a:xfrm>
          <a:prstGeom prst="rect">
            <a:avLst/>
          </a:prstGeom>
          <a:noFill/>
          <a:ln/>
        </p:spPr>
        <p:txBody>
          <a:bodyPr wrap="square" lIns="508" tIns="508" rIns="508" bIns="508" rtlCol="0" anchor="ctr"/>
          <a:lstStyle/>
          <a:p>
            <a:pPr marL="0" indent="0">
              <a:buNone/>
            </a:pPr>
            <a:r>
              <a:rPr lang="en-US" sz="1100" dirty="0">
                <a:solidFill>
                  <a:schemeClr val="accent5"/>
                </a:solidFill>
                <a:latin typeface="Courier New" pitchFamily="34" charset="0"/>
                <a:ea typeface="Courier New" pitchFamily="34" charset="-122"/>
                <a:cs typeface="Courier New" pitchFamily="34" charset="-120"/>
              </a:rPr>
              <a:t>AVG</a:t>
            </a:r>
            <a:r>
              <a:rPr lang="en-US" sz="1100" dirty="0">
                <a:solidFill>
                  <a:schemeClr val="bg1"/>
                </a:solidFill>
                <a:latin typeface="Courier New" pitchFamily="34" charset="0"/>
                <a:ea typeface="Courier New" pitchFamily="34" charset="-122"/>
                <a:cs typeface="Courier New" pitchFamily="34" charset="-120"/>
              </a:rPr>
              <a:t>(salary) ... </a:t>
            </a:r>
            <a:r>
              <a:rPr lang="en-US" sz="1100" b="1" dirty="0">
                <a:solidFill>
                  <a:schemeClr val="accent2"/>
                </a:solidFill>
                <a:latin typeface="Courier New" pitchFamily="34" charset="0"/>
                <a:ea typeface="Courier New" pitchFamily="34" charset="-122"/>
                <a:cs typeface="Courier New" pitchFamily="34" charset="-120"/>
              </a:rPr>
              <a:t>GROUP BY</a:t>
            </a:r>
            <a:r>
              <a:rPr lang="en-US" sz="1100" dirty="0">
                <a:solidFill>
                  <a:schemeClr val="bg1"/>
                </a:solidFill>
                <a:latin typeface="Courier New" pitchFamily="34" charset="0"/>
                <a:ea typeface="Courier New" pitchFamily="34" charset="-122"/>
                <a:cs typeface="Courier New" pitchFamily="34" charset="-120"/>
              </a:rPr>
              <a:t> department</a:t>
            </a:r>
            <a:endParaRPr lang="en-US" sz="1100" dirty="0"/>
          </a:p>
        </p:txBody>
      </p:sp>
      <p:sp>
        <p:nvSpPr>
          <p:cNvPr id="4" name="codebg_81"/>
          <p:cNvSpPr/>
          <p:nvPr/>
        </p:nvSpPr>
        <p:spPr>
          <a:xfrm>
            <a:off x="4206240" y="3840480"/>
            <a:ext cx="4480560" cy="502920"/>
          </a:xfrm>
          <a:prstGeom prst="roundRect">
            <a:avLst>
              <a:gd name="adj" fmla="val 14545"/>
            </a:avLst>
          </a:prstGeom>
          <a:solidFill>
            <a:schemeClr val="tx1"/>
          </a:solidFill>
          <a:ln w="12700">
            <a:solidFill>
              <a:schemeClr val="tx1"/>
            </a:solidFill>
            <a:prstDash val="solid"/>
          </a:ln>
        </p:spPr>
      </p:sp>
      <p:sp>
        <p:nvSpPr>
          <p:cNvPr id="12" name="code_82"/>
          <p:cNvSpPr txBox="1"/>
          <p:nvPr/>
        </p:nvSpPr>
        <p:spPr>
          <a:xfrm>
            <a:off x="4315968" y="3895344"/>
            <a:ext cx="4261104" cy="393192"/>
          </a:xfrm>
          <a:prstGeom prst="rect">
            <a:avLst/>
          </a:prstGeom>
          <a:noFill/>
          <a:ln/>
        </p:spPr>
        <p:txBody>
          <a:bodyPr wrap="square" lIns="508" tIns="508" rIns="508" bIns="508" rtlCol="0" anchor="ctr"/>
          <a:lstStyle/>
          <a:p>
            <a:pPr marL="0" indent="0">
              <a:buNone/>
            </a:pPr>
            <a:r>
              <a:rPr lang="en-US" sz="1200" dirty="0">
                <a:solidFill>
                  <a:schemeClr val="accent5"/>
                </a:solidFill>
                <a:latin typeface="Courier New" pitchFamily="34" charset="0"/>
                <a:ea typeface="Courier New" pitchFamily="34" charset="-122"/>
                <a:cs typeface="Courier New" pitchFamily="34" charset="-120"/>
              </a:rPr>
              <a:t>AVG</a:t>
            </a:r>
            <a:r>
              <a:rPr lang="en-US" sz="1200" dirty="0">
                <a:solidFill>
                  <a:schemeClr val="bg1"/>
                </a:solidFill>
                <a:latin typeface="Courier New" pitchFamily="34" charset="0"/>
                <a:ea typeface="Courier New" pitchFamily="34" charset="-122"/>
                <a:cs typeface="Courier New" pitchFamily="34" charset="-120"/>
              </a:rPr>
              <a:t>(salary) </a:t>
            </a:r>
            <a:r>
              <a:rPr lang="en-US" sz="1200" b="1" dirty="0">
                <a:solidFill>
                  <a:schemeClr val="accent2"/>
                </a:solidFill>
                <a:latin typeface="Courier New" pitchFamily="34" charset="0"/>
                <a:ea typeface="Courier New" pitchFamily="34" charset="-122"/>
                <a:cs typeface="Courier New" pitchFamily="34" charset="-120"/>
              </a:rPr>
              <a:t>OVER</a:t>
            </a:r>
            <a:r>
              <a:rPr lang="en-US" sz="1200" dirty="0">
                <a:solidFill>
                  <a:schemeClr val="bg1"/>
                </a:solidFill>
                <a:latin typeface="Courier New" pitchFamily="34" charset="0"/>
                <a:ea typeface="Courier New" pitchFamily="34" charset="-122"/>
                <a:cs typeface="Courier New" pitchFamily="34" charset="-120"/>
              </a:rPr>
              <a:t> (</a:t>
            </a:r>
            <a:r>
              <a:rPr lang="en-US" sz="1200" b="1" dirty="0">
                <a:solidFill>
                  <a:schemeClr val="accent2"/>
                </a:solidFill>
                <a:latin typeface="Courier New" pitchFamily="34" charset="0"/>
                <a:ea typeface="Courier New" pitchFamily="34" charset="-122"/>
                <a:cs typeface="Courier New" pitchFamily="34" charset="-120"/>
              </a:rPr>
              <a:t>PARTITION BY</a:t>
            </a:r>
            <a:r>
              <a:rPr lang="en-US" sz="1200" dirty="0">
                <a:solidFill>
                  <a:schemeClr val="bg1"/>
                </a:solidFill>
                <a:latin typeface="Courier New" pitchFamily="34" charset="0"/>
                <a:ea typeface="Courier New" pitchFamily="34" charset="-122"/>
                <a:cs typeface="Courier New" pitchFamily="34" charset="-120"/>
              </a:rPr>
              <a:t> department)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48640"/>
            <a:ext cx="8229600" cy="640080"/>
          </a:xfrm>
          <a:prstGeom prst="rect">
            <a:avLst/>
          </a:prstGeom>
          <a:noFill/>
          <a:ln/>
        </p:spPr>
        <p:txBody>
          <a:bodyPr wrap="square" lIns="0" tIns="0" rIns="0" bIns="0" rtlCol="0" anchor="ctr"/>
          <a:lstStyle/>
          <a:p>
            <a:pPr marL="0" indent="0" algn="l">
              <a:buNone/>
            </a:pPr>
            <a:r>
              <a:rPr lang="en-US" sz="3600" b="1" dirty="0">
                <a:solidFill>
                  <a:schemeClr val="tx1"/>
                </a:solidFill>
              </a:rPr>
              <a:t>OVER() = Whole Table</a:t>
            </a:r>
            <a:endParaRPr lang="en-US" sz="3600" dirty="0"/>
          </a:p>
        </p:txBody>
      </p:sp>
      <p:sp>
        <p:nvSpPr>
          <p:cNvPr id="3" name="chip_99"/>
          <p:cNvSpPr txBox="1"/>
          <p:nvPr/>
        </p:nvSpPr>
        <p:spPr>
          <a:xfrm>
            <a:off x="457200" y="256032"/>
            <a:ext cx="77724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dirty="0">
                <a:solidFill>
                  <a:schemeClr val="bg1"/>
                </a:solidFill>
              </a:rPr>
              <a:t>DAY 1</a:t>
            </a:r>
            <a:endParaRPr lang="en-US" sz="1000" dirty="0"/>
          </a:p>
        </p:txBody>
      </p:sp>
      <p:graphicFrame>
        <p:nvGraphicFramePr>
          <p:cNvPr id="8" name="table_10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1975104"/>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29184">
                <a:tc>
                  <a:txBody>
                    <a:bodyPr/>
                    <a:lstStyle/>
                    <a:p>
                      <a:pPr marL="0" indent="0" algn="ctr">
                        <a:buNone/>
                      </a:pPr>
                      <a:r>
                        <a:rPr lang="en-US" sz="1300" b="1" dirty="0">
                          <a:solidFill>
                            <a:schemeClr val="bg1"/>
                          </a:solidFill>
                        </a:rPr>
                        <a:t>emp_name</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salary</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SUM() OVER()</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AVG() OVER()</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 of total</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lgn="ctr">
                        <a:buNone/>
                      </a:pPr>
                      <a:r>
                        <a:rPr lang="en-US" sz="1300" dirty="0">
                          <a:solidFill>
                            <a:schemeClr val="tx1"/>
                          </a:solidFill>
                        </a:rPr>
                        <a:t>Aarav</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45,000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891,000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59,400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5.05</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329184">
                <a:tc>
                  <a:txBody>
                    <a:bodyPr/>
                    <a:lstStyle/>
                    <a:p>
                      <a:pPr marL="0" indent="0" algn="ctr">
                        <a:buNone/>
                      </a:pPr>
                      <a:r>
                        <a:rPr lang="en-US" sz="1300" dirty="0">
                          <a:solidFill>
                            <a:schemeClr val="tx1"/>
                          </a:solidFill>
                        </a:rPr>
                        <a:t>Diya</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52,000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891,000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59,400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5.84</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2"/>
                  </a:ext>
                </a:extLst>
              </a:tr>
              <a:tr h="329184">
                <a:tc>
                  <a:txBody>
                    <a:bodyPr/>
                    <a:lstStyle/>
                    <a:p>
                      <a:pPr marL="0" indent="0" algn="ctr">
                        <a:buNone/>
                      </a:pPr>
                      <a:r>
                        <a:rPr lang="en-US" sz="1300" dirty="0">
                          <a:solidFill>
                            <a:schemeClr val="tx1"/>
                          </a:solidFill>
                        </a:rPr>
                        <a:t>Kabir</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85,000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891,000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59,400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9.54</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3"/>
                  </a:ext>
                </a:extLst>
              </a:tr>
              <a:tr h="329184">
                <a:tc>
                  <a:txBody>
                    <a:bodyPr/>
                    <a:lstStyle/>
                    <a:p>
                      <a:pPr marL="0" indent="0" algn="ctr">
                        <a:buNone/>
                      </a:pPr>
                      <a:r>
                        <a:rPr lang="en-US" sz="1300" dirty="0">
                          <a:solidFill>
                            <a:schemeClr val="tx1"/>
                          </a:solidFill>
                        </a:rPr>
                        <a:t>Arjun</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40,000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891,000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59,400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4.49</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4"/>
                  </a:ext>
                </a:extLst>
              </a:tr>
              <a:tr h="329184">
                <a:tc>
                  <a:txBody>
                    <a:bodyPr/>
                    <a:lstStyle/>
                    <a:p>
                      <a:pPr marL="0" indent="0" algn="ctr">
                        <a:buNone/>
                      </a:pPr>
                      <a:r>
                        <a:rPr lang="en-US" sz="1300" dirty="0">
                          <a:solidFill>
                            <a:schemeClr val="tx1"/>
                          </a:solidFill>
                        </a:rPr>
                        <a:t>Priya</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75,000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891,000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59,400</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bg1"/>
                    </a:solidFill>
                  </a:tcPr>
                </a:tc>
                <a:tc>
                  <a:txBody>
                    <a:bodyPr/>
                    <a:lstStyle/>
                    <a:p>
                      <a:pPr marL="0" indent="0" algn="ctr">
                        <a:buNone/>
                      </a:pPr>
                      <a:r>
                        <a:rPr lang="en-US" sz="1300" b="1" dirty="0">
                          <a:solidFill>
                            <a:schemeClr val="tx1"/>
                          </a:solidFill>
                        </a:rPr>
                        <a:t>8.42</a:t>
                      </a:r>
                      <a:endParaRPr lang="en-US" sz="1300" dirty="0"/>
                    </a:p>
                  </a:txBody>
                  <a:tcPr marL="73152" marR="73152" marT="27432" marB="27432" anchor="ctr">
                    <a:lnL w="9525" cap="flat" cmpd="sng" algn="ctr">
                      <a:solidFill>
                        <a:srgbClr val="D3DEDB"/>
                      </a:solidFill>
                      <a:prstDash val="solid"/>
                      <a:round/>
                      <a:headEnd type="none" w="med" len="med"/>
                      <a:tailEnd type="none" w="med" len="med"/>
                    </a:lnL>
                    <a:lnR w="9525" cap="flat" cmpd="sng" algn="ctr">
                      <a:solidFill>
                        <a:srgbClr val="D3DEDB"/>
                      </a:solidFill>
                      <a:prstDash val="solid"/>
                      <a:round/>
                      <a:headEnd type="none" w="med" len="med"/>
                      <a:tailEnd type="none" w="med" len="med"/>
                    </a:lnR>
                    <a:lnT w="9525" cap="flat" cmpd="sng" algn="ctr">
                      <a:solidFill>
                        <a:srgbClr val="D3DEDB"/>
                      </a:solidFill>
                      <a:prstDash val="solid"/>
                      <a:round/>
                      <a:headEnd type="none" w="med" len="med"/>
                      <a:tailEnd type="none" w="med" len="med"/>
                    </a:lnT>
                    <a:lnB w="9525" cap="flat" cmpd="sng" algn="ctr">
                      <a:solidFill>
                        <a:srgbClr val="D3DEDB"/>
                      </a:solidFill>
                      <a:prstDash val="solid"/>
                      <a:round/>
                      <a:headEnd type="none" w="med" len="med"/>
                      <a:tailEnd type="none" w="med" len="med"/>
                    </a:lnB>
                    <a:solidFill>
                      <a:schemeClr val="accent5"/>
                    </a:solidFill>
                  </a:tcPr>
                </a:tc>
                <a:extLst>
                  <a:ext uri="{0D108BD9-81ED-4DB2-BD59-A6C34878D82A}">
                    <a16:rowId xmlns:a16="http://schemas.microsoft.com/office/drawing/2014/main" val="10005"/>
                  </a:ext>
                </a:extLst>
              </a:tr>
            </a:tbl>
          </a:graphicData>
        </a:graphic>
      </p:graphicFrame>
      <p:sp>
        <p:nvSpPr>
          <p:cNvPr id="6" name="cap_101"/>
          <p:cNvSpPr txBox="1"/>
          <p:nvPr/>
        </p:nvSpPr>
        <p:spPr>
          <a:xfrm>
            <a:off x="457200" y="3383280"/>
            <a:ext cx="8229600" cy="228600"/>
          </a:xfrm>
          <a:prstGeom prst="rect">
            <a:avLst/>
          </a:prstGeom>
          <a:noFill/>
          <a:ln/>
        </p:spPr>
        <p:txBody>
          <a:bodyPr wrap="square" lIns="0" tIns="0" rIns="0" bIns="0" rtlCol="0" anchor="ctr"/>
          <a:lstStyle/>
          <a:p>
            <a:pPr marL="0" indent="0">
              <a:buNone/>
            </a:pPr>
            <a:r>
              <a:rPr lang="en-US" sz="1100" i="1" dirty="0">
                <a:solidFill>
                  <a:schemeClr val="tx2"/>
                </a:solidFill>
              </a:rPr>
              <a:t>5 of the 15 employees shown</a:t>
            </a:r>
            <a:endParaRPr lang="en-US" sz="1100" dirty="0"/>
          </a:p>
        </p:txBody>
      </p:sp>
      <p:sp>
        <p:nvSpPr>
          <p:cNvPr id="7" name="codebg_102"/>
          <p:cNvSpPr/>
          <p:nvPr/>
        </p:nvSpPr>
        <p:spPr>
          <a:xfrm>
            <a:off x="457200" y="3749040"/>
            <a:ext cx="8229600" cy="640080"/>
          </a:xfrm>
          <a:prstGeom prst="roundRect">
            <a:avLst>
              <a:gd name="adj" fmla="val 11429"/>
            </a:avLst>
          </a:prstGeom>
          <a:solidFill>
            <a:schemeClr val="tx1"/>
          </a:solidFill>
          <a:ln w="12700">
            <a:solidFill>
              <a:schemeClr val="tx1"/>
            </a:solidFill>
            <a:prstDash val="solid"/>
          </a:ln>
        </p:spPr>
      </p:sp>
      <p:sp>
        <p:nvSpPr>
          <p:cNvPr id="4" name="code_103"/>
          <p:cNvSpPr txBox="1"/>
          <p:nvPr/>
        </p:nvSpPr>
        <p:spPr>
          <a:xfrm>
            <a:off x="566928" y="3803904"/>
            <a:ext cx="8010144" cy="530352"/>
          </a:xfrm>
          <a:prstGeom prst="rect">
            <a:avLst/>
          </a:prstGeom>
          <a:noFill/>
          <a:ln/>
        </p:spPr>
        <p:txBody>
          <a:bodyPr wrap="square" lIns="508" tIns="508" rIns="508" bIns="508" rtlCol="0" anchor="ctr"/>
          <a:lstStyle/>
          <a:p>
            <a:pPr marL="0" indent="0">
              <a:buNone/>
            </a:pPr>
            <a:r>
              <a:rPr lang="en-US" sz="1400" dirty="0">
                <a:solidFill>
                  <a:schemeClr val="accent5"/>
                </a:solidFill>
                <a:latin typeface="Courier New" pitchFamily="34" charset="0"/>
                <a:ea typeface="Courier New" pitchFamily="34" charset="-122"/>
                <a:cs typeface="Courier New" pitchFamily="34" charset="-120"/>
              </a:rPr>
              <a:t>ROUND</a:t>
            </a:r>
            <a:r>
              <a:rPr lang="en-US" sz="1400" dirty="0">
                <a:solidFill>
                  <a:schemeClr val="bg1"/>
                </a:solidFill>
                <a:latin typeface="Courier New" pitchFamily="34" charset="0"/>
                <a:ea typeface="Courier New" pitchFamily="34" charset="-122"/>
                <a:cs typeface="Courier New" pitchFamily="34" charset="-120"/>
              </a:rPr>
              <a:t>(salary * 100.0 / </a:t>
            </a:r>
            <a:r>
              <a:rPr lang="en-US" sz="1400" dirty="0">
                <a:solidFill>
                  <a:schemeClr val="accent5"/>
                </a:solidFill>
                <a:latin typeface="Courier New" pitchFamily="34" charset="0"/>
                <a:ea typeface="Courier New" pitchFamily="34" charset="-122"/>
                <a:cs typeface="Courier New" pitchFamily="34" charset="-120"/>
              </a:rPr>
              <a:t>SUM</a:t>
            </a:r>
            <a:r>
              <a:rPr lang="en-US" sz="1400" dirty="0">
                <a:solidFill>
                  <a:schemeClr val="bg1"/>
                </a:solidFill>
                <a:latin typeface="Courier New" pitchFamily="34" charset="0"/>
                <a:ea typeface="Courier New" pitchFamily="34" charset="-122"/>
                <a:cs typeface="Courier New" pitchFamily="34" charset="-120"/>
              </a:rPr>
              <a:t>(salary) </a:t>
            </a:r>
            <a:r>
              <a:rPr lang="en-US" sz="1400" b="1" dirty="0">
                <a:solidFill>
                  <a:schemeClr val="accent2"/>
                </a:solidFill>
                <a:latin typeface="Courier New" pitchFamily="34" charset="0"/>
                <a:ea typeface="Courier New" pitchFamily="34" charset="-122"/>
                <a:cs typeface="Courier New" pitchFamily="34" charset="-120"/>
              </a:rPr>
              <a:t>OVER</a:t>
            </a:r>
            <a:r>
              <a:rPr lang="en-US" sz="1400" dirty="0">
                <a:solidFill>
                  <a:schemeClr val="bg1"/>
                </a:solidFill>
                <a:latin typeface="Courier New" pitchFamily="34" charset="0"/>
                <a:ea typeface="Courier New" pitchFamily="34" charset="-122"/>
                <a:cs typeface="Courier New" pitchFamily="34" charset="-120"/>
              </a:rPr>
              <a:t> (), 2) </a:t>
            </a:r>
            <a:r>
              <a:rPr lang="en-US" sz="1400" b="1" dirty="0">
                <a:solidFill>
                  <a:schemeClr val="accent2"/>
                </a:solidFill>
                <a:latin typeface="Courier New" pitchFamily="34" charset="0"/>
                <a:ea typeface="Courier New" pitchFamily="34" charset="-122"/>
                <a:cs typeface="Courier New" pitchFamily="34" charset="-120"/>
              </a:rPr>
              <a:t>AS</a:t>
            </a:r>
            <a:r>
              <a:rPr lang="en-US" sz="1400" dirty="0">
                <a:solidFill>
                  <a:schemeClr val="bg1"/>
                </a:solidFill>
                <a:latin typeface="Courier New" pitchFamily="34" charset="0"/>
                <a:ea typeface="Courier New" pitchFamily="34" charset="-122"/>
                <a:cs typeface="Courier New" pitchFamily="34" charset="-120"/>
              </a:rPr>
              <a:t> pct_of_total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5120640" cy="1371600"/>
          </a:xfrm>
          <a:prstGeom prst="rect">
            <a:avLst/>
          </a:prstGeom>
          <a:noFill/>
          <a:ln/>
        </p:spPr>
        <p:txBody>
          <a:bodyPr wrap="square" lIns="0" tIns="0" rIns="0" bIns="0" rtlCol="0" anchor="t"/>
          <a:lstStyle/>
          <a:p>
            <a:pPr marL="0" indent="0" algn="l">
              <a:buNone/>
            </a:pPr>
            <a:r>
              <a:rPr lang="en-US" sz="4000" b="1" dirty="0">
                <a:solidFill>
                  <a:schemeClr val="bg1"/>
                </a:solidFill>
              </a:rPr>
              <a:t>Practice Time</a:t>
            </a:r>
            <a:endParaRPr lang="en-US" sz="4000" dirty="0"/>
          </a:p>
        </p:txBody>
      </p:sp>
      <p:sp>
        <p:nvSpPr>
          <p:cNvPr id="3" name="Text 0"/>
          <p:cNvSpPr>
            <a:spLocks noGrp="1"/>
          </p:cNvSpPr>
          <p:nvPr>
            <p:ph type="body" idx="101" hasCustomPrompt="1"/>
          </p:nvPr>
        </p:nvSpPr>
        <p:spPr>
          <a:xfrm>
            <a:off x="548640" y="2880360"/>
            <a:ext cx="4937760" cy="822960"/>
          </a:xfrm>
          <a:prstGeom prst="rect">
            <a:avLst/>
          </a:prstGeom>
          <a:noFill/>
          <a:ln/>
        </p:spPr>
        <p:txBody>
          <a:bodyPr wrap="square" lIns="0" tIns="0" rIns="0" bIns="0" rtlCol="0" anchor="t"/>
          <a:lstStyle/>
          <a:p>
            <a:pPr marL="0" indent="0">
              <a:buNone/>
            </a:pPr>
            <a:r>
              <a:rPr lang="en-US" sz="1800" dirty="0">
                <a:solidFill>
                  <a:schemeClr val="accent5"/>
                </a:solidFill>
              </a:rPr>
              <a:t>Open the Day 1 folder and follow these 5 steps</a:t>
            </a:r>
            <a:endParaRPr lang="en-US" sz="1800" dirty="0"/>
          </a:p>
        </p:txBody>
      </p:sp>
      <p:sp>
        <p:nvSpPr>
          <p:cNvPr id="4" name="chip_104"/>
          <p:cNvSpPr txBox="1"/>
          <p:nvPr/>
        </p:nvSpPr>
        <p:spPr>
          <a:xfrm>
            <a:off x="548640" y="960120"/>
            <a:ext cx="2103120" cy="256032"/>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dirty="0">
                <a:solidFill>
                  <a:schemeClr val="bg1"/>
                </a:solidFill>
              </a:rPr>
              <a:t>DAY 1  ·  INTRO &amp; OVER()</a:t>
            </a:r>
            <a:endParaRPr lang="en-US" sz="1000" dirty="0"/>
          </a:p>
        </p:txBody>
      </p:sp>
      <p:sp>
        <p:nvSpPr>
          <p:cNvPr id="5" name="chip_105"/>
          <p:cNvSpPr txBox="1"/>
          <p:nvPr/>
        </p:nvSpPr>
        <p:spPr>
          <a:xfrm>
            <a:off x="5669280" y="914400"/>
            <a:ext cx="2926080" cy="411480"/>
          </a:xfrm>
          <a:prstGeom prst="roundRect">
            <a:avLst>
              <a:gd name="adj" fmla="val 50000"/>
            </a:avLst>
          </a:prstGeom>
          <a:solidFill>
            <a:schemeClr val="accent2"/>
          </a:solidFill>
          <a:ln/>
        </p:spPr>
        <p:txBody>
          <a:bodyPr wrap="square" lIns="0" tIns="0" rIns="0" bIns="0" rtlCol="0" anchor="ctr"/>
          <a:lstStyle/>
          <a:p>
            <a:pPr marL="0" indent="0" algn="ctr">
              <a:buNone/>
            </a:pPr>
            <a:r>
              <a:rPr lang="en-US" sz="1300" b="1" dirty="0">
                <a:solidFill>
                  <a:schemeClr val="tx1"/>
                </a:solidFill>
              </a:rPr>
              <a:t>Next: Day 2  ·  PARTITION BY</a:t>
            </a:r>
            <a:endParaRPr lang="en-US" sz="1300" dirty="0"/>
          </a:p>
        </p:txBody>
      </p:sp>
      <p:sp>
        <p:nvSpPr>
          <p:cNvPr id="6" name="stepbg_106"/>
          <p:cNvSpPr/>
          <p:nvPr/>
        </p:nvSpPr>
        <p:spPr>
          <a:xfrm>
            <a:off x="548640" y="3657600"/>
            <a:ext cx="1517904" cy="868680"/>
          </a:xfrm>
          <a:prstGeom prst="roundRect">
            <a:avLst>
              <a:gd name="adj" fmla="val 8421"/>
            </a:avLst>
          </a:prstGeom>
          <a:solidFill>
            <a:schemeClr val="tx2"/>
          </a:solidFill>
          <a:ln w="12700">
            <a:solidFill>
              <a:schemeClr val="tx2"/>
            </a:solidFill>
            <a:prstDash val="solid"/>
          </a:ln>
        </p:spPr>
      </p:sp>
      <p:sp>
        <p:nvSpPr>
          <p:cNvPr id="7" name="step_107"/>
          <p:cNvSpPr txBox="1"/>
          <p:nvPr/>
        </p:nvSpPr>
        <p:spPr>
          <a:xfrm>
            <a:off x="603504" y="3657600"/>
            <a:ext cx="1408176" cy="868680"/>
          </a:xfrm>
          <a:prstGeom prst="rect">
            <a:avLst/>
          </a:prstGeom>
          <a:noFill/>
          <a:ln/>
        </p:spPr>
        <p:txBody>
          <a:bodyPr wrap="square" lIns="0" tIns="0" rIns="0" bIns="0" rtlCol="0" anchor="ctr"/>
          <a:lstStyle/>
          <a:p>
            <a:pPr marL="0" indent="0">
              <a:buNone/>
            </a:pPr>
            <a:r>
              <a:rPr lang="en-US" sz="1000" b="1" dirty="0">
                <a:solidFill>
                  <a:schemeClr val="accent2"/>
                </a:solidFill>
                <a:latin typeface="Courier New" pitchFamily="34" charset="0"/>
                <a:ea typeface="Courier New" pitchFamily="34" charset="-122"/>
                <a:cs typeface="Courier New" pitchFamily="34" charset="-120"/>
              </a:rPr>
              <a:t>00_simple_example</a:t>
            </a:r>
            <a:endParaRPr lang="en-US" sz="1000" dirty="0"/>
          </a:p>
          <a:p>
            <a:pPr marL="0" indent="0">
              <a:buNone/>
            </a:pPr>
            <a:r>
              <a:rPr lang="en-US" sz="1200" dirty="0">
                <a:solidFill>
                  <a:schemeClr val="bg1"/>
                </a:solidFill>
              </a:rPr>
              <a:t>Start tiny</a:t>
            </a:r>
            <a:endParaRPr lang="en-US" sz="1000" dirty="0"/>
          </a:p>
        </p:txBody>
      </p:sp>
      <p:sp>
        <p:nvSpPr>
          <p:cNvPr id="8" name="stepbg_108"/>
          <p:cNvSpPr/>
          <p:nvPr/>
        </p:nvSpPr>
        <p:spPr>
          <a:xfrm>
            <a:off x="2176272" y="3657600"/>
            <a:ext cx="1517904" cy="868680"/>
          </a:xfrm>
          <a:prstGeom prst="roundRect">
            <a:avLst>
              <a:gd name="adj" fmla="val 8421"/>
            </a:avLst>
          </a:prstGeom>
          <a:solidFill>
            <a:schemeClr val="tx2"/>
          </a:solidFill>
          <a:ln w="12700">
            <a:solidFill>
              <a:schemeClr val="tx2"/>
            </a:solidFill>
            <a:prstDash val="solid"/>
          </a:ln>
        </p:spPr>
      </p:sp>
      <p:sp>
        <p:nvSpPr>
          <p:cNvPr id="9" name="step_109"/>
          <p:cNvSpPr txBox="1"/>
          <p:nvPr/>
        </p:nvSpPr>
        <p:spPr>
          <a:xfrm>
            <a:off x="2231136" y="3657600"/>
            <a:ext cx="1408176" cy="868680"/>
          </a:xfrm>
          <a:prstGeom prst="rect">
            <a:avLst/>
          </a:prstGeom>
          <a:noFill/>
          <a:ln/>
        </p:spPr>
        <p:txBody>
          <a:bodyPr wrap="square" lIns="0" tIns="0" rIns="0" bIns="0" rtlCol="0" anchor="ctr"/>
          <a:lstStyle/>
          <a:p>
            <a:pPr marL="0" indent="0">
              <a:buNone/>
            </a:pPr>
            <a:r>
              <a:rPr lang="en-US" sz="1000" b="1" dirty="0">
                <a:solidFill>
                  <a:schemeClr val="accent2"/>
                </a:solidFill>
                <a:latin typeface="Courier New" pitchFamily="34" charset="0"/>
                <a:ea typeface="Courier New" pitchFamily="34" charset="-122"/>
                <a:cs typeface="Courier New" pitchFamily="34" charset="-120"/>
              </a:rPr>
              <a:t>01_dataset</a:t>
            </a:r>
            <a:endParaRPr lang="en-US" sz="1000" dirty="0"/>
          </a:p>
          <a:p>
            <a:pPr marL="0" indent="0">
              <a:buNone/>
            </a:pPr>
            <a:r>
              <a:rPr lang="en-US" sz="1200" dirty="0">
                <a:solidFill>
                  <a:schemeClr val="bg1"/>
                </a:solidFill>
              </a:rPr>
              <a:t>Create the tables</a:t>
            </a:r>
            <a:endParaRPr lang="en-US" sz="1000" dirty="0"/>
          </a:p>
        </p:txBody>
      </p:sp>
      <p:sp>
        <p:nvSpPr>
          <p:cNvPr id="10" name="stepbg_110"/>
          <p:cNvSpPr/>
          <p:nvPr/>
        </p:nvSpPr>
        <p:spPr>
          <a:xfrm>
            <a:off x="3803904" y="3657600"/>
            <a:ext cx="1517904" cy="868680"/>
          </a:xfrm>
          <a:prstGeom prst="roundRect">
            <a:avLst>
              <a:gd name="adj" fmla="val 8421"/>
            </a:avLst>
          </a:prstGeom>
          <a:solidFill>
            <a:schemeClr val="tx2"/>
          </a:solidFill>
          <a:ln w="12700">
            <a:solidFill>
              <a:schemeClr val="tx2"/>
            </a:solidFill>
            <a:prstDash val="solid"/>
          </a:ln>
        </p:spPr>
      </p:sp>
      <p:sp>
        <p:nvSpPr>
          <p:cNvPr id="11" name="step_111"/>
          <p:cNvSpPr txBox="1"/>
          <p:nvPr/>
        </p:nvSpPr>
        <p:spPr>
          <a:xfrm>
            <a:off x="3858768" y="3657600"/>
            <a:ext cx="1408176" cy="868680"/>
          </a:xfrm>
          <a:prstGeom prst="rect">
            <a:avLst/>
          </a:prstGeom>
          <a:noFill/>
          <a:ln/>
        </p:spPr>
        <p:txBody>
          <a:bodyPr wrap="square" lIns="0" tIns="0" rIns="0" bIns="0" rtlCol="0" anchor="ctr"/>
          <a:lstStyle/>
          <a:p>
            <a:pPr marL="0" indent="0">
              <a:buNone/>
            </a:pPr>
            <a:r>
              <a:rPr lang="en-US" sz="1000" b="1" dirty="0">
                <a:solidFill>
                  <a:schemeClr val="accent2"/>
                </a:solidFill>
                <a:latin typeface="Courier New" pitchFamily="34" charset="0"/>
                <a:ea typeface="Courier New" pitchFamily="34" charset="-122"/>
                <a:cs typeface="Courier New" pitchFamily="34" charset="-120"/>
              </a:rPr>
              <a:t>02_concepts</a:t>
            </a:r>
            <a:endParaRPr lang="en-US" sz="1000" dirty="0"/>
          </a:p>
          <a:p>
            <a:pPr marL="0" indent="0">
              <a:buNone/>
            </a:pPr>
            <a:r>
              <a:rPr lang="en-US" sz="1200" dirty="0">
                <a:solidFill>
                  <a:schemeClr val="bg1"/>
                </a:solidFill>
              </a:rPr>
              <a:t>Run the examples</a:t>
            </a:r>
            <a:endParaRPr lang="en-US" sz="1000" dirty="0"/>
          </a:p>
        </p:txBody>
      </p:sp>
      <p:sp>
        <p:nvSpPr>
          <p:cNvPr id="12" name="stepbg_112"/>
          <p:cNvSpPr/>
          <p:nvPr/>
        </p:nvSpPr>
        <p:spPr>
          <a:xfrm>
            <a:off x="5431536" y="3657600"/>
            <a:ext cx="1517904" cy="868680"/>
          </a:xfrm>
          <a:prstGeom prst="roundRect">
            <a:avLst>
              <a:gd name="adj" fmla="val 8421"/>
            </a:avLst>
          </a:prstGeom>
          <a:solidFill>
            <a:schemeClr val="tx2"/>
          </a:solidFill>
          <a:ln w="12700">
            <a:solidFill>
              <a:schemeClr val="tx2"/>
            </a:solidFill>
            <a:prstDash val="solid"/>
          </a:ln>
        </p:spPr>
      </p:sp>
      <p:sp>
        <p:nvSpPr>
          <p:cNvPr id="13" name="step_113"/>
          <p:cNvSpPr txBox="1"/>
          <p:nvPr/>
        </p:nvSpPr>
        <p:spPr>
          <a:xfrm>
            <a:off x="5486400" y="3657600"/>
            <a:ext cx="1408176" cy="868680"/>
          </a:xfrm>
          <a:prstGeom prst="rect">
            <a:avLst/>
          </a:prstGeom>
          <a:noFill/>
          <a:ln/>
        </p:spPr>
        <p:txBody>
          <a:bodyPr wrap="square" lIns="0" tIns="0" rIns="0" bIns="0" rtlCol="0" anchor="ctr"/>
          <a:lstStyle/>
          <a:p>
            <a:pPr marL="0" indent="0">
              <a:buNone/>
            </a:pPr>
            <a:r>
              <a:rPr lang="en-US" sz="1000" b="1" dirty="0">
                <a:solidFill>
                  <a:schemeClr val="accent2"/>
                </a:solidFill>
                <a:latin typeface="Courier New" pitchFamily="34" charset="0"/>
                <a:ea typeface="Courier New" pitchFamily="34" charset="-122"/>
                <a:cs typeface="Courier New" pitchFamily="34" charset="-120"/>
              </a:rPr>
              <a:t>03_practice</a:t>
            </a:r>
            <a:endParaRPr lang="en-US" sz="1000" dirty="0"/>
          </a:p>
          <a:p>
            <a:pPr marL="0" indent="0">
              <a:buNone/>
            </a:pPr>
            <a:r>
              <a:rPr lang="en-US" sz="1200" dirty="0">
                <a:solidFill>
                  <a:schemeClr val="bg1"/>
                </a:solidFill>
              </a:rPr>
              <a:t>Solve on your own</a:t>
            </a:r>
            <a:endParaRPr lang="en-US" sz="1000" dirty="0"/>
          </a:p>
        </p:txBody>
      </p:sp>
      <p:sp>
        <p:nvSpPr>
          <p:cNvPr id="14" name="stepbg_114"/>
          <p:cNvSpPr/>
          <p:nvPr/>
        </p:nvSpPr>
        <p:spPr>
          <a:xfrm>
            <a:off x="7059168" y="3657600"/>
            <a:ext cx="1517904" cy="868680"/>
          </a:xfrm>
          <a:prstGeom prst="roundRect">
            <a:avLst>
              <a:gd name="adj" fmla="val 8421"/>
            </a:avLst>
          </a:prstGeom>
          <a:solidFill>
            <a:schemeClr val="tx2"/>
          </a:solidFill>
          <a:ln w="12700">
            <a:solidFill>
              <a:schemeClr val="tx2"/>
            </a:solidFill>
            <a:prstDash val="solid"/>
          </a:ln>
        </p:spPr>
      </p:sp>
      <p:sp>
        <p:nvSpPr>
          <p:cNvPr id="15" name="step_115"/>
          <p:cNvSpPr txBox="1"/>
          <p:nvPr/>
        </p:nvSpPr>
        <p:spPr>
          <a:xfrm>
            <a:off x="7114032" y="3657600"/>
            <a:ext cx="1408176" cy="868680"/>
          </a:xfrm>
          <a:prstGeom prst="rect">
            <a:avLst/>
          </a:prstGeom>
          <a:noFill/>
          <a:ln/>
        </p:spPr>
        <p:txBody>
          <a:bodyPr wrap="square" lIns="0" tIns="0" rIns="0" bIns="0" rtlCol="0" anchor="ctr"/>
          <a:lstStyle/>
          <a:p>
            <a:pPr marL="0" indent="0">
              <a:buNone/>
            </a:pPr>
            <a:r>
              <a:rPr lang="en-US" sz="1000" b="1" dirty="0">
                <a:solidFill>
                  <a:schemeClr val="accent2"/>
                </a:solidFill>
                <a:latin typeface="Courier New" pitchFamily="34" charset="0"/>
                <a:ea typeface="Courier New" pitchFamily="34" charset="-122"/>
                <a:cs typeface="Courier New" pitchFamily="34" charset="-120"/>
              </a:rPr>
              <a:t>04_solutions</a:t>
            </a:r>
            <a:endParaRPr lang="en-US" sz="1000" dirty="0"/>
          </a:p>
          <a:p>
            <a:pPr marL="0" indent="0">
              <a:buNone/>
            </a:pPr>
            <a:r>
              <a:rPr lang="en-US" sz="1200" dirty="0">
                <a:solidFill>
                  <a:schemeClr val="bg1"/>
                </a:solidFill>
              </a:rPr>
              <a:t>Check your answers</a:t>
            </a:r>
            <a:endParaRPr lang="en-US" sz="1000" dirty="0"/>
          </a:p>
        </p:txBody>
      </p:sp>
      <p:sp>
        <p:nvSpPr>
          <p:cNvPr id="16" name="req_116"/>
          <p:cNvSpPr txBox="1"/>
          <p:nvPr/>
        </p:nvSpPr>
        <p:spPr>
          <a:xfrm>
            <a:off x="548640" y="4617720"/>
            <a:ext cx="8046720" cy="274320"/>
          </a:xfrm>
          <a:prstGeom prst="rect">
            <a:avLst/>
          </a:prstGeom>
          <a:noFill/>
          <a:ln/>
        </p:spPr>
        <p:txBody>
          <a:bodyPr wrap="square" lIns="0" tIns="0" rIns="0" bIns="0" rtlCol="0" anchor="ctr"/>
          <a:lstStyle/>
          <a:p>
            <a:pPr marL="0" indent="0">
              <a:buNone/>
            </a:pPr>
            <a:r>
              <a:rPr lang="en-US" sz="1100" dirty="0">
                <a:solidFill>
                  <a:schemeClr val="accent5"/>
                </a:solidFill>
              </a:rPr>
              <a:t>Requires MySQL 8.0+  ·  Database: window_fn_course</a:t>
            </a:r>
            <a:endParaRPr lang="en-US" sz="1100" dirty="0"/>
          </a:p>
        </p:txBody>
      </p:sp>
    </p:spTree>
  </p:cSld>
  <p:clrMapOvr>
    <a:masterClrMapping/>
  </p:clrMapOvr>
</p:sld>
</file>

<file path=ppt/theme/theme1.xml><?xml version="1.0" encoding="utf-8"?>
<a:theme xmlns:a="http://schemas.openxmlformats.org/drawingml/2006/main" name="Window Functions">
  <a:themeElements>
    <a:clrScheme name="Window Functions">
      <a:dk1>
        <a:srgbClr val="1B2A3A"/>
      </a:dk1>
      <a:lt1>
        <a:srgbClr val="FFFFFF"/>
      </a:lt1>
      <a:dk2>
        <a:srgbClr val="0F3D3E"/>
      </a:dk2>
      <a:lt2>
        <a:srgbClr val="EEF3F2"/>
      </a:lt2>
      <a:accent1>
        <a:srgbClr val="0E8C76"/>
      </a:accent1>
      <a:accent2>
        <a:srgbClr val="F2A541"/>
      </a:accent2>
      <a:accent3>
        <a:srgbClr val="D9534F"/>
      </a:accent3>
      <a:accent4>
        <a:srgbClr val="3D5A80"/>
      </a:accent4>
      <a:accent5>
        <a:srgbClr val="D5F0EA"/>
      </a:accent5>
      <a:accent6>
        <a:srgbClr val="FDEBD0"/>
      </a:accent6>
      <a:hlink>
        <a:srgbClr val="0E8C76"/>
      </a:hlink>
      <a:folHlink>
        <a:srgbClr val="3D5A80"/>
      </a:folHlink>
    </a:clrScheme>
    <a:fontScheme name="Window Functio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718</Words>
  <Application>Microsoft Office PowerPoint</Application>
  <PresentationFormat>On-screen Show (16:9)</PresentationFormat>
  <Paragraphs>141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Courier New</vt:lpstr>
      <vt:lpstr>Window Functions</vt:lpstr>
      <vt:lpstr>Window Functions in MySQL</vt:lpstr>
      <vt:lpstr>Intro: What Is a Window?</vt:lpstr>
      <vt:lpstr>Simple Example: OVER()</vt:lpstr>
      <vt:lpstr>GROUP BY vs Window</vt:lpstr>
      <vt:lpstr>OVER() = Whole Table</vt:lpstr>
      <vt:lpstr>Practice Time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 Functions in MySQL</dc:title>
  <dc:subject>PptxGenJS Presentation</dc:subject>
  <dc:creator>DA SQL</dc:creator>
  <cp:lastModifiedBy>PradeepRai</cp:lastModifiedBy>
  <cp:revision>3</cp:revision>
  <dcterms:created xsi:type="dcterms:W3CDTF">2026-10-24T12:19:49Z</dcterms:created>
  <dcterms:modified xsi:type="dcterms:W3CDTF">2026-10-26T07:44:23Z</dcterms:modified>
</cp:coreProperties>
</file>